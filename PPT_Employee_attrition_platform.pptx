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3372d7c-1acc-e9ae-771b-8297306b33b3}">
          <p14:sldIdLst>
            <p14:sldId id="256"/>
            <p14:sldId id="257"/>
            <p14:sldId id="258"/>
          </p14:sldIdLst>
        </p14:section>
        <p14:section name="Findings" id="{85cd16cf-6e9a-0844-f7b6-eba8aaaa52c5}">
          <p14:sldIdLst>
            <p14:sldId id="259"/>
            <p14:sldId id="260"/>
            <p14:sldId id="261"/>
            <p14:sldId id="262"/>
          </p14:sldIdLst>
        </p14:section>
        <p14:section name="Deployment" id="{06fd923e-27ac-d786-f614-f82f1dd5c3fa}">
          <p14:sldIdLst>
            <p14:sldId id="263"/>
            <p14:sldId id="264"/>
          </p14:sldIdLst>
        </p14:section>
        <p14:section name="Action" id="{64a5c741-b130-c7a6-3a23-cc17221d7897}">
          <p14:sldIdLst>
            <p14:sldId id="265"/>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B2A41"/>
                </a:solidFill>
                <a:latin typeface="+mn-lt"/>
                <a:ea typeface="+mn-ea"/>
                <a:cs typeface="+mn-cs"/>
              </a:defRPr>
            </a:pPr>
            <a:r>
              <a:rPr sz="1300" b="0" i="0" u="none" strike="noStrike">
                <a:solidFill>
                  <a:srgbClr val="1B2A41"/>
                </a:solidFill>
                <a:latin typeface="+mn-lt"/>
              </a:rPr>
              <a:t>Attrition % by age band</a:t>
            </a:r>
            <a:endParaRPr sz="1300" b="0" i="0" u="none" strike="noStrike">
              <a:solidFill>
                <a:srgbClr val="1B2A41"/>
              </a:solidFill>
              <a:latin typeface="+mn-lt"/>
            </a:endParaRPr>
          </a:p>
        </c:rich>
      </c:tx>
      <c:layout/>
      <c:overlay val="0"/>
    </c:title>
    <c:autoTitleDeleted val="0"/>
    <c:plotArea>
      <c:layout/>
      <c:barChart>
        <c:barDir val="col"/>
        <c:grouping val="clustered"/>
        <c:varyColors val="0"/>
        <c:ser>
          <c:idx val="0"/>
          <c:order val="0"/>
          <c:tx>
            <c:strRef>
              <c:f>Sheet1!$B$1</c:f>
              <c:strCache>
                <c:ptCount val="1"/>
                <c:pt idx="0">
                  <c:v>Attrition %</c:v>
                </c:pt>
              </c:strCache>
            </c:strRef>
          </c:tx>
          <c:spPr>
            <a:solidFill>
              <a:srgbClr val="0F766E"/>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00000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18-25</c:v>
                </c:pt>
                <c:pt idx="1">
                  <c:v>26-35</c:v>
                </c:pt>
                <c:pt idx="2">
                  <c:v>36-45</c:v>
                </c:pt>
                <c:pt idx="3">
                  <c:v>46-60</c:v>
                </c:pt>
              </c:strCache>
            </c:strRef>
          </c:cat>
          <c:val>
            <c:numRef>
              <c:f>Sheet1!$B$2:$B$5</c:f>
              <c:numCache>
                <c:formatCode>General</c:formatCode>
                <c:ptCount val="4"/>
                <c:pt idx="0">
                  <c:v>35.8</c:v>
                </c:pt>
                <c:pt idx="1">
                  <c:v>19.1</c:v>
                </c:pt>
                <c:pt idx="2">
                  <c:v>9.2</c:v>
                </c:pt>
                <c:pt idx="3">
                  <c:v>12.5</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1B2A41"/>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21a043ad-1342-4e91-aff0-aef18a3c37e4}"/>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B2A41"/>
                </a:solidFill>
                <a:latin typeface="+mn-lt"/>
                <a:ea typeface="+mn-ea"/>
                <a:cs typeface="+mn-cs"/>
              </a:defRPr>
            </a:pPr>
            <a:r>
              <a:rPr sz="1300" b="0" i="0" u="none" strike="noStrike">
                <a:solidFill>
                  <a:srgbClr val="1B2A41"/>
                </a:solidFill>
                <a:latin typeface="+mn-lt"/>
              </a:rPr>
              <a:t>Attrition % by overtime</a:t>
            </a:r>
            <a:endParaRPr sz="1300" b="0" i="0" u="none" strike="noStrike">
              <a:solidFill>
                <a:srgbClr val="1B2A41"/>
              </a:solidFill>
              <a:latin typeface="+mn-lt"/>
            </a:endParaRPr>
          </a:p>
        </c:rich>
      </c:tx>
      <c:layout/>
      <c:overlay val="0"/>
    </c:title>
    <c:autoTitleDeleted val="0"/>
    <c:plotArea>
      <c:layout/>
      <c:barChart>
        <c:barDir val="col"/>
        <c:grouping val="clustered"/>
        <c:varyColors val="0"/>
        <c:ser>
          <c:idx val="0"/>
          <c:order val="0"/>
          <c:tx>
            <c:strRef>
              <c:f>Sheet1!$B$1</c:f>
              <c:strCache>
                <c:ptCount val="1"/>
                <c:pt idx="0">
                  <c:v>Attrition %</c:v>
                </c:pt>
              </c:strCache>
            </c:strRef>
          </c:tx>
          <c:spPr>
            <a:solidFill>
              <a:srgbClr val="DC2626"/>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00000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No overtime</c:v>
                </c:pt>
                <c:pt idx="1">
                  <c:v>Overtime</c:v>
                </c:pt>
              </c:strCache>
            </c:strRef>
          </c:cat>
          <c:val>
            <c:numRef>
              <c:f>Sheet1!$B$2:$B$3</c:f>
              <c:numCache>
                <c:formatCode>General</c:formatCode>
                <c:ptCount val="2"/>
                <c:pt idx="0">
                  <c:v>10.4</c:v>
                </c:pt>
                <c:pt idx="1">
                  <c:v>30.5</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1B2A41"/>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641b788-9045-4afd-abfb-021d9cf4cdf1}"/>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CV AUC (train)</c:v>
                </c:pt>
              </c:strCache>
            </c:strRef>
          </c:tx>
          <c:spPr>
            <a:solidFill>
              <a:srgbClr val="0F766E"/>
            </a:solidFill>
            <a:effectLst/>
          </c:spPr>
          <c:invertIfNegative val="0"/>
          <c:dLbls>
            <c:dLbl>
              <c:idx val="0"/>
              <c:delete val="1"/>
            </c:dLbl>
            <c:dLbl>
              <c:idx val="1"/>
              <c:delete val="1"/>
            </c:dLbl>
            <c:dLbl>
              <c:idx val="2"/>
              <c:delete val="1"/>
            </c:dLbl>
            <c:dLbl>
              <c:idx val="3"/>
              <c:delete val="1"/>
            </c:dLbl>
            <c:dLbl>
              <c:idx val="4"/>
              <c:delete val="1"/>
            </c:dLbl>
            <c:dLbl>
              <c:idx val="5"/>
              <c:delete val="1"/>
            </c:dLbl>
            <c:dLbl>
              <c:idx val="6"/>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Sheet1!$A$2:$A$8</c:f>
              <c:strCache>
                <c:ptCount val="7"/>
                <c:pt idx="0">
                  <c:v>Naive Bayes</c:v>
                </c:pt>
                <c:pt idx="1">
                  <c:v>QDA</c:v>
                </c:pt>
                <c:pt idx="2">
                  <c:v>LDA</c:v>
                </c:pt>
                <c:pt idx="3">
                  <c:v>Random Forest</c:v>
                </c:pt>
                <c:pt idx="4">
                  <c:v>XGBoost</c:v>
                </c:pt>
                <c:pt idx="5">
                  <c:v>Neural Network</c:v>
                </c:pt>
                <c:pt idx="6">
                  <c:v>Logistic Regression</c:v>
                </c:pt>
              </c:strCache>
            </c:strRef>
          </c:cat>
          <c:val>
            <c:numRef>
              <c:f>Sheet1!$B$2:$B$8</c:f>
              <c:numCache>
                <c:formatCode>General</c:formatCode>
                <c:ptCount val="7"/>
                <c:pt idx="0">
                  <c:v>0.734</c:v>
                </c:pt>
                <c:pt idx="1">
                  <c:v>0.747</c:v>
                </c:pt>
                <c:pt idx="2">
                  <c:v>0.753</c:v>
                </c:pt>
                <c:pt idx="3">
                  <c:v>0.811</c:v>
                </c:pt>
                <c:pt idx="4">
                  <c:v>0.821</c:v>
                </c:pt>
                <c:pt idx="5">
                  <c:v>0.823</c:v>
                </c:pt>
                <c:pt idx="6">
                  <c:v>0.83</c:v>
                </c:pt>
              </c:numCache>
            </c:numRef>
          </c:val>
        </c:ser>
        <c:ser>
          <c:idx val="1"/>
          <c:order val="1"/>
          <c:tx>
            <c:strRef>
              <c:f>Sheet1!$C$1</c:f>
              <c:strCache>
                <c:ptCount val="1"/>
                <c:pt idx="0">
                  <c:v>Test AUC</c:v>
                </c:pt>
              </c:strCache>
            </c:strRef>
          </c:tx>
          <c:spPr>
            <a:solidFill>
              <a:srgbClr val="F59E0B"/>
            </a:solidFill>
            <a:effectLst/>
          </c:spPr>
          <c:invertIfNegative val="0"/>
          <c:dLbls>
            <c:dLbl>
              <c:idx val="0"/>
              <c:delete val="1"/>
            </c:dLbl>
            <c:dLbl>
              <c:idx val="1"/>
              <c:delete val="1"/>
            </c:dLbl>
            <c:dLbl>
              <c:idx val="2"/>
              <c:delete val="1"/>
            </c:dLbl>
            <c:dLbl>
              <c:idx val="3"/>
              <c:delete val="1"/>
            </c:dLbl>
            <c:dLbl>
              <c:idx val="4"/>
              <c:delete val="1"/>
            </c:dLbl>
            <c:dLbl>
              <c:idx val="5"/>
              <c:delete val="1"/>
            </c:dLbl>
            <c:dLbl>
              <c:idx val="6"/>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Sheet1!$A$2:$A$8</c:f>
              <c:strCache>
                <c:ptCount val="7"/>
                <c:pt idx="0">
                  <c:v>Naive Bayes</c:v>
                </c:pt>
                <c:pt idx="1">
                  <c:v>QDA</c:v>
                </c:pt>
                <c:pt idx="2">
                  <c:v>LDA</c:v>
                </c:pt>
                <c:pt idx="3">
                  <c:v>Random Forest</c:v>
                </c:pt>
                <c:pt idx="4">
                  <c:v>XGBoost</c:v>
                </c:pt>
                <c:pt idx="5">
                  <c:v>Neural Network</c:v>
                </c:pt>
                <c:pt idx="6">
                  <c:v>Logistic Regression</c:v>
                </c:pt>
              </c:strCache>
            </c:strRef>
          </c:cat>
          <c:val>
            <c:numRef>
              <c:f>Sheet1!$C$2:$C$8</c:f>
              <c:numCache>
                <c:formatCode>General</c:formatCode>
                <c:ptCount val="7"/>
                <c:pt idx="0">
                  <c:v>0.672</c:v>
                </c:pt>
                <c:pt idx="1">
                  <c:v>0.686</c:v>
                </c:pt>
                <c:pt idx="2">
                  <c:v>0.707</c:v>
                </c:pt>
                <c:pt idx="3">
                  <c:v>0.774</c:v>
                </c:pt>
                <c:pt idx="4">
                  <c:v>0.774</c:v>
                </c:pt>
                <c:pt idx="5">
                  <c:v>0.771</c:v>
                </c:pt>
                <c:pt idx="6">
                  <c:v>0.806</c:v>
                </c:pt>
              </c:numCache>
            </c:numRef>
          </c:val>
        </c:ser>
        <c:dLbls>
          <c:showLegendKey val="0"/>
          <c:showVal val="0"/>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000000"/>
                </a:solidFill>
                <a:latin typeface="+mn-lt"/>
                <a:ea typeface="+mn-ea"/>
                <a:cs typeface="+mn-cs"/>
              </a:defRPr>
            </a:pPr>
          </a:p>
        </c:txPr>
        <c:crossAx val="2094734552"/>
        <c:crosses val="autoZero"/>
        <c:auto val="1"/>
        <c:lblAlgn val="ctr"/>
        <c:lblOffset val="100"/>
        <c:noMultiLvlLbl val="1"/>
      </c:catAx>
      <c:valAx>
        <c:axId val="2094734552"/>
        <c:scaling>
          <c:orientation val="minMax"/>
          <c:max val="0.9"/>
          <c:min val="0.5"/>
        </c:scaling>
        <c:delete val="0"/>
        <c:axPos val="b"/>
        <c:majorGridlines>
          <c:spPr>
            <a:ln w="6350" cap="flat" cmpd="sng" algn="ctr">
              <a:solidFill>
                <a:srgbClr val="E2E8F0"/>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100" b="0" i="0" u="none" strike="noStrike" kern="1200" baseline="0">
              <a:solidFill>
                <a:schemeClr val="tx1"/>
              </a:solidFill>
              <a:latin typeface="+mn-lt"/>
              <a:ea typeface="+mn-ea"/>
              <a:cs typeface="+mn-lt"/>
            </a:defRPr>
          </a:pPr>
        </a:p>
      </c:txPr>
    </c:legend>
    <c:plotVisOnly val="1"/>
    <c:dispBlanksAs val="span"/>
    <c:showDLblsOverMax val="0"/>
    <c:extLst>
      <c:ext uri="{0b15fc19-7d7d-44ad-8c2d-2c3a37ce22c3}">
        <chartProps xmlns="https://web.wps.cn/et/2018/main" chartId="{aa17a219-74ef-4e5e-8fe9-fbfce23d9588}"/>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B2A41"/>
                </a:solidFill>
                <a:latin typeface="+mn-lt"/>
                <a:ea typeface="+mn-ea"/>
                <a:cs typeface="+mn-cs"/>
              </a:defRPr>
            </a:pPr>
            <a:r>
              <a:rPr sz="1200" b="0" i="0" u="none" strike="noStrike">
                <a:solidFill>
                  <a:srgbClr val="1B2A41"/>
                </a:solidFill>
                <a:latin typeface="+mn-lt"/>
              </a:rPr>
              <a:t>Actual attrition % by risk band</a:t>
            </a:r>
            <a:endParaRPr sz="1200" b="0" i="0" u="none" strike="noStrike">
              <a:solidFill>
                <a:srgbClr val="1B2A41"/>
              </a:solidFill>
              <a:latin typeface="+mn-lt"/>
            </a:endParaRPr>
          </a:p>
        </c:rich>
      </c:tx>
      <c:layout/>
      <c:overlay val="0"/>
    </c:title>
    <c:autoTitleDeleted val="0"/>
    <c:plotArea>
      <c:layout/>
      <c:barChart>
        <c:barDir val="col"/>
        <c:grouping val="clustered"/>
        <c:varyColors val="0"/>
        <c:ser>
          <c:idx val="0"/>
          <c:order val="0"/>
          <c:tx>
            <c:strRef>
              <c:f>Sheet1!$B$1</c:f>
              <c:strCache>
                <c:ptCount val="1"/>
                <c:pt idx="0">
                  <c:v>Actual attrition %</c:v>
                </c:pt>
              </c:strCache>
            </c:strRef>
          </c:tx>
          <c:spPr>
            <a:solidFill>
              <a:srgbClr val="0F766E"/>
            </a:solidFill>
            <a:effectLst/>
          </c:spPr>
          <c:invertIfNegative val="0"/>
          <c:dPt>
            <c:idx val="0"/>
            <c:invertIfNegative val="0"/>
            <c:bubble3D val="0"/>
            <c:spPr>
              <a:solidFill>
                <a:srgbClr val="0F766E"/>
              </a:solidFill>
              <a:effectLst/>
            </c:spPr>
          </c:dPt>
          <c:dPt>
            <c:idx val="1"/>
            <c:invertIfNegative val="0"/>
            <c:bubble3D val="0"/>
            <c:spPr>
              <a:solidFill>
                <a:srgbClr val="F59E0B"/>
              </a:solidFill>
              <a:effectLst/>
            </c:spPr>
          </c:dPt>
          <c:dPt>
            <c:idx val="2"/>
            <c:invertIfNegative val="0"/>
            <c:bubble3D val="0"/>
            <c:spPr>
              <a:solidFill>
                <a:srgbClr val="DC2626"/>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Low</c:v>
                </c:pt>
                <c:pt idx="1">
                  <c:v>Medium</c:v>
                </c:pt>
                <c:pt idx="2">
                  <c:v>High</c:v>
                </c:pt>
              </c:strCache>
            </c:strRef>
          </c:cat>
          <c:val>
            <c:numRef>
              <c:f>Sheet1!$B$2:$B$4</c:f>
              <c:numCache>
                <c:formatCode>General</c:formatCode>
                <c:ptCount val="3"/>
                <c:pt idx="0">
                  <c:v>4.1</c:v>
                </c:pt>
                <c:pt idx="1">
                  <c:v>12.4</c:v>
                </c:pt>
                <c:pt idx="2">
                  <c:v>46.7</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000000"/>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2ca7039f-f0b6-432d-b593-1cca0702acb3}"/>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end-to-end platform that predicts attrition and gives HR a dashboard and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attrition is costly and HR currently learns about it only after resignation. Dataset is the IBM HR Analytics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from data to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Overtime, young age, short tenure and low pay stand out. Give the numbers from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had the best cross validated AUC. The neural network was close but harder to explain. Naive Bayes and discriminant analysis were weaker because their assumptions do not fit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prior of 16 percent and how Naive Bayes updates it. Mention the assumption checks for 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threshold choice. Show that the high risk band leaves about eleven times as often as the low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instructed, Watson was replaced by free tools: Streamlit, FastAPI on Render and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live demo of the dashboard: filters, KPIs, risk list, and the prediction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recommendation to an insight. Be clear the saving is illustrative and based on stated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about half of High-risk flags are false alarms, so the list starts conversations rather than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F1F5F9"/>
          </a:solidFill>
        </p:spPr>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chart" Target="../charts/chart2.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chart" Target="../charts/char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otif"/>
          <p:cNvSpPr/>
          <p:nvPr/>
        </p:nvSpPr>
        <p:spPr>
          <a:xfrm>
            <a:off x="6675120" y="-1097280"/>
            <a:ext cx="4114800" cy="4114800"/>
          </a:xfrm>
          <a:prstGeom prst="ellipse">
            <a:avLst/>
          </a:prstGeom>
          <a:solidFill>
            <a:srgbClr val="0F766E">
              <a:alpha val="40000"/>
            </a:srgbClr>
          </a:solidFill>
          <a:ln w="12700">
            <a:solidFill>
              <a:srgbClr val="0F766E">
                <a:alpha val="0"/>
              </a:srgbClr>
            </a:solidFill>
            <a:prstDash val="solid"/>
          </a:ln>
        </p:spPr>
      </p:sp>
      <p:sp>
        <p:nvSpPr>
          <p:cNvPr id="3" name="motif"/>
          <p:cNvSpPr/>
          <p:nvPr/>
        </p:nvSpPr>
        <p:spPr>
          <a:xfrm>
            <a:off x="7589520" y="3017520"/>
            <a:ext cx="2743200" cy="2743200"/>
          </a:xfrm>
          <a:prstGeom prst="ellipse">
            <a:avLst/>
          </a:prstGeom>
          <a:solidFill>
            <a:srgbClr val="2DD4BF">
              <a:alpha val="25000"/>
            </a:srgbClr>
          </a:solidFill>
          <a:ln w="12700">
            <a:solidFill>
              <a:srgbClr val="2DD4BF">
                <a:alpha val="0"/>
              </a:srgbClr>
            </a:solidFill>
            <a:prstDash val="solid"/>
          </a:ln>
        </p:spPr>
      </p:sp>
      <p:sp>
        <p:nvSpPr>
          <p:cNvPr id="4" name="Text 2"/>
          <p:cNvSpPr txBox="1"/>
          <p:nvPr/>
        </p:nvSpPr>
        <p:spPr>
          <a:xfrm>
            <a:off x="640080" y="1188720"/>
            <a:ext cx="6400800" cy="1645920"/>
          </a:xfrm>
          <a:prstGeom prst="rect">
            <a:avLst/>
          </a:prstGeom>
          <a:noFill/>
        </p:spPr>
        <p:txBody>
          <a:bodyPr wrap="square" lIns="0" tIns="0" rIns="0" bIns="0" rtlCol="0" anchor="t"/>
          <a:lstStyle/>
          <a:p>
            <a:pPr marL="0" indent="0">
              <a:buNone/>
            </a:pPr>
            <a:r>
              <a:rPr lang="en-US" sz="4000" b="1" dirty="0">
                <a:solidFill>
                  <a:srgbClr val="FFFFFF"/>
                </a:solidFill>
                <a:latin typeface="Georgia" panose="02040502050405020303" pitchFamily="34" charset="0"/>
                <a:ea typeface="Georgia" panose="02040502050405020303" pitchFamily="34" charset="-122"/>
                <a:cs typeface="Georgia" panose="02040502050405020303" pitchFamily="34" charset="-120"/>
              </a:rPr>
              <a:t>Employee Attrition</a:t>
            </a:r>
            <a:endParaRPr lang="en-US" sz="4000" dirty="0"/>
          </a:p>
          <a:p>
            <a:pPr marL="0" indent="0">
              <a:buNone/>
            </a:pPr>
            <a:r>
              <a:rPr lang="en-US" sz="4000" b="1" dirty="0">
                <a:solidFill>
                  <a:srgbClr val="FFFFFF"/>
                </a:solidFill>
                <a:latin typeface="Georgia" panose="02040502050405020303" pitchFamily="34" charset="0"/>
                <a:ea typeface="Georgia" panose="02040502050405020303" pitchFamily="34" charset="-122"/>
                <a:cs typeface="Georgia" panose="02040502050405020303" pitchFamily="34" charset="-120"/>
              </a:rPr>
              <a:t>Analytics Platform</a:t>
            </a:r>
            <a:endParaRPr lang="en-US" sz="4000" dirty="0"/>
          </a:p>
        </p:txBody>
      </p:sp>
      <p:sp>
        <p:nvSpPr>
          <p:cNvPr id="5" name="Text 3"/>
          <p:cNvSpPr txBox="1"/>
          <p:nvPr/>
        </p:nvSpPr>
        <p:spPr>
          <a:xfrm>
            <a:off x="640080" y="3017520"/>
            <a:ext cx="6400800" cy="457200"/>
          </a:xfrm>
          <a:prstGeom prst="rect">
            <a:avLst/>
          </a:prstGeom>
          <a:noFill/>
        </p:spPr>
        <p:txBody>
          <a:bodyPr wrap="square" lIns="0" tIns="0" rIns="0" bIns="0" rtlCol="0" anchor="t"/>
          <a:lstStyle/>
          <a:p>
            <a:pPr marL="0" indent="0">
              <a:buNone/>
            </a:pPr>
            <a:r>
              <a:rPr lang="en-US" sz="1800" dirty="0">
                <a:solidFill>
                  <a:srgbClr val="2DD4BF"/>
                </a:solidFill>
                <a:latin typeface="Calibri" panose="020F0502020204030204" pitchFamily="34" charset="0"/>
                <a:ea typeface="Calibri" panose="020F0502020204030204" pitchFamily="34" charset="-122"/>
                <a:cs typeface="Calibri" panose="020F0502020204030204" pitchFamily="34" charset="-120"/>
              </a:rPr>
              <a:t>Predict who may leave, deploy the model, and act early</a:t>
            </a:r>
            <a:endParaRPr lang="en-US" sz="1800" dirty="0"/>
          </a:p>
        </p:txBody>
      </p:sp>
      <p:sp>
        <p:nvSpPr>
          <p:cNvPr id="6" name="Text 4"/>
          <p:cNvSpPr txBox="1"/>
          <p:nvPr/>
        </p:nvSpPr>
        <p:spPr>
          <a:xfrm>
            <a:off x="640080" y="3840480"/>
            <a:ext cx="7315200" cy="731520"/>
          </a:xfrm>
          <a:prstGeom prst="rect">
            <a:avLst/>
          </a:prstGeom>
          <a:noFill/>
        </p:spPr>
        <p:txBody>
          <a:bodyPr wrap="square" lIns="0" tIns="0" rIns="0" bIns="0" rtlCol="0" anchor="t"/>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Sayali Chimbalkar</a:t>
            </a:r>
            <a:endParaRPr lang="en-US" sz="1500" dirty="0"/>
          </a:p>
          <a:p>
            <a:pPr marL="0" indent="0">
              <a:buNone/>
            </a:pPr>
            <a:r>
              <a:rPr lang="en-US" sz="1400" dirty="0">
                <a:solidFill>
                  <a:srgbClr val="CBD5E1"/>
                </a:solidFill>
                <a:latin typeface="Calibri" panose="020F0502020204030204" pitchFamily="34" charset="0"/>
                <a:ea typeface="Calibri" panose="020F0502020204030204" pitchFamily="34" charset="-122"/>
                <a:cs typeface="Calibri" panose="020F0502020204030204" pitchFamily="34" charset="-120"/>
              </a:rPr>
              <a:t>PRN: 2124UDSF2014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Why attrition matters</a:t>
            </a:r>
            <a:endParaRPr lang="en-US" sz="2600" dirty="0"/>
          </a:p>
        </p:txBody>
      </p:sp>
      <p:sp>
        <p:nvSpPr>
          <p:cNvPr id="4" name="card"/>
          <p:cNvSpPr/>
          <p:nvPr/>
        </p:nvSpPr>
        <p:spPr>
          <a:xfrm>
            <a:off x="457200" y="1188720"/>
            <a:ext cx="1920240" cy="1554480"/>
          </a:xfrm>
          <a:prstGeom prst="roundRect">
            <a:avLst>
              <a:gd name="adj" fmla="val 4706"/>
            </a:avLst>
          </a:prstGeom>
          <a:solidFill>
            <a:srgbClr val="F1F5F9"/>
          </a:solidFill>
          <a:ln w="12700">
            <a:solidFill>
              <a:srgbClr val="F1F5F9"/>
            </a:solidFill>
            <a:prstDash val="solid"/>
          </a:ln>
        </p:spPr>
      </p:sp>
      <p:sp>
        <p:nvSpPr>
          <p:cNvPr id="5" name="Text 2"/>
          <p:cNvSpPr txBox="1"/>
          <p:nvPr/>
        </p:nvSpPr>
        <p:spPr>
          <a:xfrm>
            <a:off x="594360" y="1325880"/>
            <a:ext cx="1645920" cy="731520"/>
          </a:xfrm>
          <a:prstGeom prst="rect">
            <a:avLst/>
          </a:prstGeom>
          <a:noFill/>
        </p:spPr>
        <p:txBody>
          <a:bodyPr wrap="square" lIns="0" tIns="0" rIns="0" bIns="0" rtlCol="0" anchor="t"/>
          <a:lstStyle/>
          <a:p>
            <a:pPr marL="0" indent="0">
              <a:buNone/>
            </a:pPr>
            <a:r>
              <a:rPr lang="en-US" sz="3600" b="1" dirty="0">
                <a:solidFill>
                  <a:srgbClr val="0F766E"/>
                </a:solidFill>
                <a:latin typeface="Georgia" panose="02040502050405020303" pitchFamily="34" charset="0"/>
                <a:ea typeface="Georgia" panose="02040502050405020303" pitchFamily="34" charset="-122"/>
                <a:cs typeface="Georgia" panose="02040502050405020303" pitchFamily="34" charset="-120"/>
              </a:rPr>
              <a:t>1470</a:t>
            </a:r>
            <a:endParaRPr lang="en-US" sz="3600" dirty="0"/>
          </a:p>
        </p:txBody>
      </p:sp>
      <p:sp>
        <p:nvSpPr>
          <p:cNvPr id="6" name="Text 3"/>
          <p:cNvSpPr txBox="1"/>
          <p:nvPr/>
        </p:nvSpPr>
        <p:spPr>
          <a:xfrm>
            <a:off x="594360" y="2103120"/>
            <a:ext cx="164592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employees in the dataset</a:t>
            </a:r>
            <a:endParaRPr lang="en-US" sz="1300" dirty="0"/>
          </a:p>
        </p:txBody>
      </p:sp>
      <p:sp>
        <p:nvSpPr>
          <p:cNvPr id="7" name="card"/>
          <p:cNvSpPr/>
          <p:nvPr/>
        </p:nvSpPr>
        <p:spPr>
          <a:xfrm>
            <a:off x="2560320" y="1188720"/>
            <a:ext cx="1920240" cy="1554480"/>
          </a:xfrm>
          <a:prstGeom prst="roundRect">
            <a:avLst>
              <a:gd name="adj" fmla="val 4706"/>
            </a:avLst>
          </a:prstGeom>
          <a:solidFill>
            <a:srgbClr val="F1F5F9"/>
          </a:solidFill>
          <a:ln w="12700">
            <a:solidFill>
              <a:srgbClr val="F1F5F9"/>
            </a:solidFill>
            <a:prstDash val="solid"/>
          </a:ln>
        </p:spPr>
      </p:sp>
      <p:sp>
        <p:nvSpPr>
          <p:cNvPr id="8" name="Text 5"/>
          <p:cNvSpPr txBox="1"/>
          <p:nvPr/>
        </p:nvSpPr>
        <p:spPr>
          <a:xfrm>
            <a:off x="2697480" y="1325880"/>
            <a:ext cx="1645920" cy="731520"/>
          </a:xfrm>
          <a:prstGeom prst="rect">
            <a:avLst/>
          </a:prstGeom>
          <a:noFill/>
        </p:spPr>
        <p:txBody>
          <a:bodyPr wrap="square" lIns="0" tIns="0" rIns="0" bIns="0" rtlCol="0" anchor="t"/>
          <a:lstStyle/>
          <a:p>
            <a:pPr marL="0" indent="0">
              <a:buNone/>
            </a:pPr>
            <a:r>
              <a:rPr lang="en-US" sz="3600" b="1" dirty="0">
                <a:solidFill>
                  <a:srgbClr val="0F766E"/>
                </a:solidFill>
                <a:latin typeface="Georgia" panose="02040502050405020303" pitchFamily="34" charset="0"/>
                <a:ea typeface="Georgia" panose="02040502050405020303" pitchFamily="34" charset="-122"/>
                <a:cs typeface="Georgia" panose="02040502050405020303" pitchFamily="34" charset="-120"/>
              </a:rPr>
              <a:t>237</a:t>
            </a:r>
            <a:endParaRPr lang="en-US" sz="3600" dirty="0"/>
          </a:p>
        </p:txBody>
      </p:sp>
      <p:sp>
        <p:nvSpPr>
          <p:cNvPr id="9" name="Text 6"/>
          <p:cNvSpPr txBox="1"/>
          <p:nvPr/>
        </p:nvSpPr>
        <p:spPr>
          <a:xfrm>
            <a:off x="2697480" y="2103120"/>
            <a:ext cx="164592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employees have left</a:t>
            </a:r>
            <a:endParaRPr lang="en-US" sz="1300" dirty="0"/>
          </a:p>
        </p:txBody>
      </p:sp>
      <p:sp>
        <p:nvSpPr>
          <p:cNvPr id="10" name="card"/>
          <p:cNvSpPr/>
          <p:nvPr/>
        </p:nvSpPr>
        <p:spPr>
          <a:xfrm>
            <a:off x="4663440" y="1188720"/>
            <a:ext cx="1920240" cy="1554480"/>
          </a:xfrm>
          <a:prstGeom prst="roundRect">
            <a:avLst>
              <a:gd name="adj" fmla="val 4706"/>
            </a:avLst>
          </a:prstGeom>
          <a:solidFill>
            <a:srgbClr val="0F766E"/>
          </a:solidFill>
          <a:ln w="12700">
            <a:solidFill>
              <a:srgbClr val="0F766E"/>
            </a:solidFill>
            <a:prstDash val="solid"/>
          </a:ln>
        </p:spPr>
      </p:sp>
      <p:sp>
        <p:nvSpPr>
          <p:cNvPr id="11" name="Text 8"/>
          <p:cNvSpPr txBox="1"/>
          <p:nvPr/>
        </p:nvSpPr>
        <p:spPr>
          <a:xfrm>
            <a:off x="4800600" y="1325880"/>
            <a:ext cx="1645920" cy="731520"/>
          </a:xfrm>
          <a:prstGeom prst="rect">
            <a:avLst/>
          </a:prstGeom>
          <a:noFill/>
        </p:spPr>
        <p:txBody>
          <a:bodyPr wrap="square" lIns="0" tIns="0" rIns="0" bIns="0" rtlCol="0" anchor="t"/>
          <a:lstStyle/>
          <a:p>
            <a:pPr marL="0" indent="0">
              <a:buNone/>
            </a:pPr>
            <a:r>
              <a:rPr lang="en-US" sz="3600" b="1" dirty="0">
                <a:solidFill>
                  <a:srgbClr val="FFFFFF"/>
                </a:solidFill>
                <a:latin typeface="Georgia" panose="02040502050405020303" pitchFamily="34" charset="0"/>
                <a:ea typeface="Georgia" panose="02040502050405020303" pitchFamily="34" charset="-122"/>
                <a:cs typeface="Georgia" panose="02040502050405020303" pitchFamily="34" charset="-120"/>
              </a:rPr>
              <a:t>16.1%</a:t>
            </a:r>
            <a:endParaRPr lang="en-US" sz="3600" dirty="0"/>
          </a:p>
        </p:txBody>
      </p:sp>
      <p:sp>
        <p:nvSpPr>
          <p:cNvPr id="12" name="Text 9"/>
          <p:cNvSpPr txBox="1"/>
          <p:nvPr/>
        </p:nvSpPr>
        <p:spPr>
          <a:xfrm>
            <a:off x="4800600" y="2103120"/>
            <a:ext cx="1645920" cy="548640"/>
          </a:xfrm>
          <a:prstGeom prst="rect">
            <a:avLst/>
          </a:prstGeom>
          <a:noFill/>
        </p:spPr>
        <p:txBody>
          <a:bodyPr wrap="square" lIns="0" tIns="0" rIns="0" bIns="0" rtlCol="0" anchor="t"/>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attrition rate</a:t>
            </a:r>
            <a:endParaRPr lang="en-US" sz="1300" dirty="0"/>
          </a:p>
        </p:txBody>
      </p:sp>
      <p:sp>
        <p:nvSpPr>
          <p:cNvPr id="13" name="card"/>
          <p:cNvSpPr/>
          <p:nvPr/>
        </p:nvSpPr>
        <p:spPr>
          <a:xfrm>
            <a:off x="6766560" y="1188720"/>
            <a:ext cx="1920240" cy="1554480"/>
          </a:xfrm>
          <a:prstGeom prst="roundRect">
            <a:avLst>
              <a:gd name="adj" fmla="val 4706"/>
            </a:avLst>
          </a:prstGeom>
          <a:solidFill>
            <a:srgbClr val="F1F5F9"/>
          </a:solidFill>
          <a:ln w="12700">
            <a:solidFill>
              <a:srgbClr val="F1F5F9"/>
            </a:solidFill>
            <a:prstDash val="solid"/>
          </a:ln>
        </p:spPr>
      </p:sp>
      <p:sp>
        <p:nvSpPr>
          <p:cNvPr id="14" name="Text 11"/>
          <p:cNvSpPr txBox="1"/>
          <p:nvPr/>
        </p:nvSpPr>
        <p:spPr>
          <a:xfrm>
            <a:off x="6903720" y="1325880"/>
            <a:ext cx="1645920" cy="731520"/>
          </a:xfrm>
          <a:prstGeom prst="rect">
            <a:avLst/>
          </a:prstGeom>
          <a:noFill/>
        </p:spPr>
        <p:txBody>
          <a:bodyPr wrap="square" lIns="0" tIns="0" rIns="0" bIns="0" rtlCol="0" anchor="t"/>
          <a:lstStyle/>
          <a:p>
            <a:pPr marL="0" indent="0">
              <a:buNone/>
            </a:pPr>
            <a:r>
              <a:rPr lang="en-US" sz="3600" b="1" dirty="0">
                <a:solidFill>
                  <a:srgbClr val="0F766E"/>
                </a:solidFill>
                <a:latin typeface="Georgia" panose="02040502050405020303" pitchFamily="34" charset="0"/>
                <a:ea typeface="Georgia" panose="02040502050405020303" pitchFamily="34" charset="-122"/>
                <a:cs typeface="Georgia" panose="02040502050405020303" pitchFamily="34" charset="-120"/>
              </a:rPr>
              <a:t>Late</a:t>
            </a:r>
            <a:endParaRPr lang="en-US" sz="3600" dirty="0"/>
          </a:p>
        </p:txBody>
      </p:sp>
      <p:sp>
        <p:nvSpPr>
          <p:cNvPr id="15" name="Text 12"/>
          <p:cNvSpPr txBox="1"/>
          <p:nvPr/>
        </p:nvSpPr>
        <p:spPr>
          <a:xfrm>
            <a:off x="6903720" y="2103120"/>
            <a:ext cx="164592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HR learns after the resignation</a:t>
            </a:r>
            <a:endParaRPr lang="en-US" sz="1300" dirty="0"/>
          </a:p>
        </p:txBody>
      </p:sp>
      <p:sp>
        <p:nvSpPr>
          <p:cNvPr id="16" name="Text 13"/>
          <p:cNvSpPr txBox="1"/>
          <p:nvPr/>
        </p:nvSpPr>
        <p:spPr>
          <a:xfrm>
            <a:off x="457200" y="3108960"/>
            <a:ext cx="8229600" cy="1554480"/>
          </a:xfrm>
          <a:prstGeom prst="rect">
            <a:avLst/>
          </a:prstGeom>
          <a:noFill/>
        </p:spPr>
        <p:txBody>
          <a:bodyPr wrap="square" lIns="0" tIns="0" rIns="0" bIns="0" rtlCol="0" anchor="t"/>
          <a:lstStyle/>
          <a:p>
            <a:pPr marL="342900" indent="-342900">
              <a:spcAft>
                <a:spcPts val="600"/>
              </a:spcAft>
              <a:buSzPct val="100000"/>
              <a:buChar char="•"/>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Every exit costs recruiting, onboarding and lost productivity.</a:t>
            </a:r>
            <a:endParaRPr lang="en-US" sz="1600" dirty="0"/>
          </a:p>
          <a:p>
            <a:pPr marL="342900" indent="-342900">
              <a:spcAft>
                <a:spcPts val="600"/>
              </a:spcAft>
              <a:buSzPct val="100000"/>
              <a:buChar char="•"/>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Goal: predict risk for every employee, group into Low / Medium / High, and let HR act before people leave.</a:t>
            </a:r>
            <a:endParaRPr lang="en-US" sz="1600" dirty="0"/>
          </a:p>
          <a:p>
            <a:pPr marL="342900" indent="-342900">
              <a:spcAft>
                <a:spcPts val="600"/>
              </a:spcAft>
              <a:buSzPct val="100000"/>
              <a:buChar char="•"/>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Success: high recall on leavers, good ROC-AUC, an explainable score, and a deployed, retrained pipeline.</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HR analytics workflow</a:t>
            </a:r>
            <a:endParaRPr lang="en-US" sz="2600" dirty="0"/>
          </a:p>
        </p:txBody>
      </p:sp>
      <p:sp>
        <p:nvSpPr>
          <p:cNvPr id="4" name="card"/>
          <p:cNvSpPr/>
          <p:nvPr/>
        </p:nvSpPr>
        <p:spPr>
          <a:xfrm>
            <a:off x="365760" y="1371600"/>
            <a:ext cx="1280160" cy="2194560"/>
          </a:xfrm>
          <a:prstGeom prst="roundRect">
            <a:avLst>
              <a:gd name="adj" fmla="val 5714"/>
            </a:avLst>
          </a:prstGeom>
          <a:solidFill>
            <a:srgbClr val="F1F5F9"/>
          </a:solidFill>
          <a:ln w="12700">
            <a:solidFill>
              <a:srgbClr val="F1F5F9"/>
            </a:solidFill>
            <a:prstDash val="solid"/>
          </a:ln>
        </p:spPr>
      </p:sp>
      <p:sp>
        <p:nvSpPr>
          <p:cNvPr id="5" name="step"/>
          <p:cNvSpPr/>
          <p:nvPr/>
        </p:nvSpPr>
        <p:spPr>
          <a:xfrm>
            <a:off x="777240" y="1508760"/>
            <a:ext cx="457200" cy="457200"/>
          </a:xfrm>
          <a:prstGeom prst="ellipse">
            <a:avLst/>
          </a:prstGeom>
          <a:solidFill>
            <a:srgbClr val="0F766E"/>
          </a:solidFill>
          <a:ln w="12700">
            <a:solidFill>
              <a:srgbClr val="0F766E"/>
            </a:solidFill>
            <a:prstDash val="solid"/>
          </a:ln>
        </p:spPr>
      </p:sp>
      <p:sp>
        <p:nvSpPr>
          <p:cNvPr id="6" name="Text 3"/>
          <p:cNvSpPr txBox="1"/>
          <p:nvPr/>
        </p:nvSpPr>
        <p:spPr>
          <a:xfrm>
            <a:off x="77724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4"/>
          <p:cNvSpPr txBox="1"/>
          <p:nvPr/>
        </p:nvSpPr>
        <p:spPr>
          <a:xfrm>
            <a:off x="45720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Collect</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IBM HR dataset 1,470 rows</a:t>
            </a:r>
            <a:endParaRPr lang="en-US" sz="1500" dirty="0"/>
          </a:p>
        </p:txBody>
      </p:sp>
      <p:sp>
        <p:nvSpPr>
          <p:cNvPr id="8" name="card"/>
          <p:cNvSpPr/>
          <p:nvPr/>
        </p:nvSpPr>
        <p:spPr>
          <a:xfrm>
            <a:off x="1783080" y="1371600"/>
            <a:ext cx="1280160" cy="2194560"/>
          </a:xfrm>
          <a:prstGeom prst="roundRect">
            <a:avLst>
              <a:gd name="adj" fmla="val 5714"/>
            </a:avLst>
          </a:prstGeom>
          <a:solidFill>
            <a:srgbClr val="E6F4F1"/>
          </a:solidFill>
          <a:ln w="12700">
            <a:solidFill>
              <a:srgbClr val="E6F4F1"/>
            </a:solidFill>
            <a:prstDash val="solid"/>
          </a:ln>
        </p:spPr>
      </p:sp>
      <p:sp>
        <p:nvSpPr>
          <p:cNvPr id="9" name="step"/>
          <p:cNvSpPr/>
          <p:nvPr/>
        </p:nvSpPr>
        <p:spPr>
          <a:xfrm>
            <a:off x="2194560" y="1508760"/>
            <a:ext cx="457200" cy="457200"/>
          </a:xfrm>
          <a:prstGeom prst="ellipse">
            <a:avLst/>
          </a:prstGeom>
          <a:solidFill>
            <a:srgbClr val="0F766E"/>
          </a:solidFill>
          <a:ln w="12700">
            <a:solidFill>
              <a:srgbClr val="0F766E"/>
            </a:solidFill>
            <a:prstDash val="solid"/>
          </a:ln>
        </p:spPr>
      </p:sp>
      <p:sp>
        <p:nvSpPr>
          <p:cNvPr id="10" name="Text 7"/>
          <p:cNvSpPr txBox="1"/>
          <p:nvPr/>
        </p:nvSpPr>
        <p:spPr>
          <a:xfrm>
            <a:off x="219456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1" name="Text 8"/>
          <p:cNvSpPr txBox="1"/>
          <p:nvPr/>
        </p:nvSpPr>
        <p:spPr>
          <a:xfrm>
            <a:off x="187452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Prepare</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clean, 5 new features, encode, scale</a:t>
            </a:r>
            <a:endParaRPr lang="en-US" sz="1500" dirty="0"/>
          </a:p>
        </p:txBody>
      </p:sp>
      <p:sp>
        <p:nvSpPr>
          <p:cNvPr id="12" name="card"/>
          <p:cNvSpPr/>
          <p:nvPr/>
        </p:nvSpPr>
        <p:spPr>
          <a:xfrm>
            <a:off x="3200400" y="1371600"/>
            <a:ext cx="1280160" cy="2194560"/>
          </a:xfrm>
          <a:prstGeom prst="roundRect">
            <a:avLst>
              <a:gd name="adj" fmla="val 5714"/>
            </a:avLst>
          </a:prstGeom>
          <a:solidFill>
            <a:srgbClr val="F1F5F9"/>
          </a:solidFill>
          <a:ln w="12700">
            <a:solidFill>
              <a:srgbClr val="F1F5F9"/>
            </a:solidFill>
            <a:prstDash val="solid"/>
          </a:ln>
        </p:spPr>
      </p:sp>
      <p:sp>
        <p:nvSpPr>
          <p:cNvPr id="13" name="step"/>
          <p:cNvSpPr/>
          <p:nvPr/>
        </p:nvSpPr>
        <p:spPr>
          <a:xfrm>
            <a:off x="3611880" y="1508760"/>
            <a:ext cx="457200" cy="457200"/>
          </a:xfrm>
          <a:prstGeom prst="ellipse">
            <a:avLst/>
          </a:prstGeom>
          <a:solidFill>
            <a:srgbClr val="0F766E"/>
          </a:solidFill>
          <a:ln w="12700">
            <a:solidFill>
              <a:srgbClr val="0F766E"/>
            </a:solidFill>
            <a:prstDash val="solid"/>
          </a:ln>
        </p:spPr>
      </p:sp>
      <p:sp>
        <p:nvSpPr>
          <p:cNvPr id="14" name="Text 11"/>
          <p:cNvSpPr txBox="1"/>
          <p:nvPr/>
        </p:nvSpPr>
        <p:spPr>
          <a:xfrm>
            <a:off x="361188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5" name="Text 12"/>
          <p:cNvSpPr txBox="1"/>
          <p:nvPr/>
        </p:nvSpPr>
        <p:spPr>
          <a:xfrm>
            <a:off x="329184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Model</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7 models, 5-fold CV</a:t>
            </a:r>
            <a:endParaRPr lang="en-US" sz="1500" dirty="0"/>
          </a:p>
        </p:txBody>
      </p:sp>
      <p:sp>
        <p:nvSpPr>
          <p:cNvPr id="16" name="card"/>
          <p:cNvSpPr/>
          <p:nvPr/>
        </p:nvSpPr>
        <p:spPr>
          <a:xfrm>
            <a:off x="4617720" y="1371600"/>
            <a:ext cx="1280160" cy="2194560"/>
          </a:xfrm>
          <a:prstGeom prst="roundRect">
            <a:avLst>
              <a:gd name="adj" fmla="val 5714"/>
            </a:avLst>
          </a:prstGeom>
          <a:solidFill>
            <a:srgbClr val="E6F4F1"/>
          </a:solidFill>
          <a:ln w="12700">
            <a:solidFill>
              <a:srgbClr val="E6F4F1"/>
            </a:solidFill>
            <a:prstDash val="solid"/>
          </a:ln>
        </p:spPr>
      </p:sp>
      <p:sp>
        <p:nvSpPr>
          <p:cNvPr id="17" name="step"/>
          <p:cNvSpPr/>
          <p:nvPr/>
        </p:nvSpPr>
        <p:spPr>
          <a:xfrm>
            <a:off x="5029200" y="1508760"/>
            <a:ext cx="457200" cy="457200"/>
          </a:xfrm>
          <a:prstGeom prst="ellipse">
            <a:avLst/>
          </a:prstGeom>
          <a:solidFill>
            <a:srgbClr val="0F766E"/>
          </a:solidFill>
          <a:ln w="12700">
            <a:solidFill>
              <a:srgbClr val="0F766E"/>
            </a:solidFill>
            <a:prstDash val="solid"/>
          </a:ln>
        </p:spPr>
      </p:sp>
      <p:sp>
        <p:nvSpPr>
          <p:cNvPr id="18" name="Text 15"/>
          <p:cNvSpPr txBox="1"/>
          <p:nvPr/>
        </p:nvSpPr>
        <p:spPr>
          <a:xfrm>
            <a:off x="502920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9" name="Text 16"/>
          <p:cNvSpPr txBox="1"/>
          <p:nvPr/>
        </p:nvSpPr>
        <p:spPr>
          <a:xfrm>
            <a:off x="470916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Select</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best CV AUC, tune threshold</a:t>
            </a:r>
            <a:endParaRPr lang="en-US" sz="1500" dirty="0"/>
          </a:p>
        </p:txBody>
      </p:sp>
      <p:sp>
        <p:nvSpPr>
          <p:cNvPr id="20" name="card"/>
          <p:cNvSpPr/>
          <p:nvPr/>
        </p:nvSpPr>
        <p:spPr>
          <a:xfrm>
            <a:off x="6035040" y="1371600"/>
            <a:ext cx="1280160" cy="2194560"/>
          </a:xfrm>
          <a:prstGeom prst="roundRect">
            <a:avLst>
              <a:gd name="adj" fmla="val 5714"/>
            </a:avLst>
          </a:prstGeom>
          <a:solidFill>
            <a:srgbClr val="F1F5F9"/>
          </a:solidFill>
          <a:ln w="12700">
            <a:solidFill>
              <a:srgbClr val="F1F5F9"/>
            </a:solidFill>
            <a:prstDash val="solid"/>
          </a:ln>
        </p:spPr>
      </p:sp>
      <p:sp>
        <p:nvSpPr>
          <p:cNvPr id="21" name="step"/>
          <p:cNvSpPr/>
          <p:nvPr/>
        </p:nvSpPr>
        <p:spPr>
          <a:xfrm>
            <a:off x="6446520" y="1508760"/>
            <a:ext cx="457200" cy="457200"/>
          </a:xfrm>
          <a:prstGeom prst="ellipse">
            <a:avLst/>
          </a:prstGeom>
          <a:solidFill>
            <a:srgbClr val="0F766E"/>
          </a:solidFill>
          <a:ln w="12700">
            <a:solidFill>
              <a:srgbClr val="0F766E"/>
            </a:solidFill>
            <a:prstDash val="solid"/>
          </a:ln>
        </p:spPr>
      </p:sp>
      <p:sp>
        <p:nvSpPr>
          <p:cNvPr id="22" name="Text 19"/>
          <p:cNvSpPr txBox="1"/>
          <p:nvPr/>
        </p:nvSpPr>
        <p:spPr>
          <a:xfrm>
            <a:off x="644652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3" name="Text 20"/>
          <p:cNvSpPr txBox="1"/>
          <p:nvPr/>
        </p:nvSpPr>
        <p:spPr>
          <a:xfrm>
            <a:off x="612648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Deploy</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dashboard + REST API</a:t>
            </a:r>
            <a:endParaRPr lang="en-US" sz="1500" dirty="0"/>
          </a:p>
        </p:txBody>
      </p:sp>
      <p:sp>
        <p:nvSpPr>
          <p:cNvPr id="24" name="card"/>
          <p:cNvSpPr/>
          <p:nvPr/>
        </p:nvSpPr>
        <p:spPr>
          <a:xfrm>
            <a:off x="7452360" y="1371600"/>
            <a:ext cx="1280160" cy="2194560"/>
          </a:xfrm>
          <a:prstGeom prst="roundRect">
            <a:avLst>
              <a:gd name="adj" fmla="val 5714"/>
            </a:avLst>
          </a:prstGeom>
          <a:solidFill>
            <a:srgbClr val="E6F4F1"/>
          </a:solidFill>
          <a:ln w="12700">
            <a:solidFill>
              <a:srgbClr val="E6F4F1"/>
            </a:solidFill>
            <a:prstDash val="solid"/>
          </a:ln>
        </p:spPr>
      </p:sp>
      <p:sp>
        <p:nvSpPr>
          <p:cNvPr id="25" name="step"/>
          <p:cNvSpPr/>
          <p:nvPr/>
        </p:nvSpPr>
        <p:spPr>
          <a:xfrm>
            <a:off x="7863840" y="1508760"/>
            <a:ext cx="457200" cy="457200"/>
          </a:xfrm>
          <a:prstGeom prst="ellipse">
            <a:avLst/>
          </a:prstGeom>
          <a:solidFill>
            <a:srgbClr val="0F766E"/>
          </a:solidFill>
          <a:ln w="12700">
            <a:solidFill>
              <a:srgbClr val="0F766E"/>
            </a:solidFill>
            <a:prstDash val="solid"/>
          </a:ln>
        </p:spPr>
      </p:sp>
      <p:sp>
        <p:nvSpPr>
          <p:cNvPr id="26" name="Text 23"/>
          <p:cNvSpPr txBox="1"/>
          <p:nvPr/>
        </p:nvSpPr>
        <p:spPr>
          <a:xfrm>
            <a:off x="7863840" y="15087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600" dirty="0"/>
          </a:p>
        </p:txBody>
      </p:sp>
      <p:sp>
        <p:nvSpPr>
          <p:cNvPr id="27" name="Text 24"/>
          <p:cNvSpPr txBox="1"/>
          <p:nvPr/>
        </p:nvSpPr>
        <p:spPr>
          <a:xfrm>
            <a:off x="7543800" y="2103120"/>
            <a:ext cx="1097280" cy="1371600"/>
          </a:xfrm>
          <a:prstGeom prst="rect">
            <a:avLst/>
          </a:prstGeom>
          <a:noFill/>
        </p:spPr>
        <p:txBody>
          <a:bodyPr wrap="square" lIns="0" tIns="0" rIns="0" bIns="0" rtlCol="0" anchor="t"/>
          <a:lstStyle/>
          <a:p>
            <a:pPr marL="0" indent="0" algn="ctr">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Monitor</a:t>
            </a:r>
            <a:endParaRPr lang="en-US" sz="1500" dirty="0"/>
          </a:p>
          <a:p>
            <a:pPr marL="0" indent="0" algn="ctr">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weekly retraining</a:t>
            </a:r>
            <a:endParaRPr lang="en-US" sz="1500" dirty="0"/>
          </a:p>
        </p:txBody>
      </p:sp>
      <p:sp>
        <p:nvSpPr>
          <p:cNvPr id="28" name="Text 25"/>
          <p:cNvSpPr txBox="1"/>
          <p:nvPr/>
        </p:nvSpPr>
        <p:spPr>
          <a:xfrm>
            <a:off x="457200" y="3931920"/>
            <a:ext cx="8229600" cy="548640"/>
          </a:xfrm>
          <a:prstGeom prst="rect">
            <a:avLst/>
          </a:prstGeom>
          <a:noFill/>
        </p:spPr>
        <p:txBody>
          <a:bodyPr wrap="square" lIns="0" tIns="0" rIns="0" bIns="0" rtlCol="0" anchor="t"/>
          <a:lstStyle/>
          <a:p>
            <a:pPr marL="0" indent="0">
              <a:buNone/>
            </a:pPr>
            <a:r>
              <a:rPr lang="en-US" sz="1400" i="1" dirty="0">
                <a:solidFill>
                  <a:srgbClr val="64748B"/>
                </a:solidFill>
                <a:latin typeface="Calibri" panose="020F0502020204030204" pitchFamily="34" charset="0"/>
                <a:ea typeface="Calibri" panose="020F0502020204030204" pitchFamily="34" charset="-122"/>
                <a:cs typeface="Calibri" panose="020F0502020204030204" pitchFamily="34" charset="-120"/>
              </a:rPr>
              <a:t>Same feature code (hr_features.py) is used in training, dashboard and API, so scoring never disagrees with training.</a:t>
            </a:r>
            <a:endParaRPr lang="en-US" sz="1400" dirty="0"/>
          </a:p>
        </p:txBody>
      </p:sp>
      <p:sp>
        <p:nvSpPr>
          <p:cNvPr id="3"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Who leaves? Key insights</a:t>
            </a:r>
            <a:endParaRPr lang="en-US" sz="2600" dirty="0"/>
          </a:p>
        </p:txBody>
      </p:sp>
      <p:graphicFrame>
        <p:nvGraphicFramePr>
          <p:cNvPr id="4" name="Chart 0"/>
          <p:cNvGraphicFramePr/>
          <p:nvPr/>
        </p:nvGraphicFramePr>
        <p:xfrm>
          <a:off x="365760" y="1051560"/>
          <a:ext cx="420624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Chart 1"/>
          <p:cNvGraphicFramePr/>
          <p:nvPr/>
        </p:nvGraphicFramePr>
        <p:xfrm>
          <a:off x="4663440" y="1051560"/>
          <a:ext cx="41148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1"/>
          <p:cNvSpPr txBox="1"/>
          <p:nvPr/>
        </p:nvSpPr>
        <p:spPr>
          <a:xfrm>
            <a:off x="457200" y="3886200"/>
            <a:ext cx="8229600" cy="914400"/>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Overtime: 2.9x higher attrition.  Tenure 0-2 years: 29.8% vs 8.1% after 11 years.</a:t>
            </a:r>
            <a:endParaRPr lang="en-US" sz="13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Lowest income quartile 29.3% vs top 10.3%.  Single 25.5% vs married 12.5%.  Sales Representatives 39.8%.</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Seven models compared</a:t>
            </a:r>
            <a:endParaRPr lang="en-US" sz="2600" dirty="0"/>
          </a:p>
        </p:txBody>
      </p:sp>
      <p:graphicFrame>
        <p:nvGraphicFramePr>
          <p:cNvPr id="4" name="Chart 0"/>
          <p:cNvGraphicFramePr/>
          <p:nvPr/>
        </p:nvGraphicFramePr>
        <p:xfrm>
          <a:off x="365760" y="1005840"/>
          <a:ext cx="5120640" cy="3657600"/>
        </p:xfrm>
        <a:graphic>
          <a:graphicData uri="http://schemas.openxmlformats.org/drawingml/2006/chart">
            <c:chart xmlns:c="http://schemas.openxmlformats.org/drawingml/2006/chart" xmlns:r="http://schemas.openxmlformats.org/officeDocument/2006/relationships" r:id="rId1"/>
          </a:graphicData>
        </a:graphic>
      </p:graphicFrame>
      <p:sp>
        <p:nvSpPr>
          <p:cNvPr id="5" name="card"/>
          <p:cNvSpPr/>
          <p:nvPr/>
        </p:nvSpPr>
        <p:spPr>
          <a:xfrm>
            <a:off x="5669280" y="1097280"/>
            <a:ext cx="3108960" cy="3474720"/>
          </a:xfrm>
          <a:prstGeom prst="roundRect">
            <a:avLst>
              <a:gd name="adj" fmla="val 2353"/>
            </a:avLst>
          </a:prstGeom>
          <a:solidFill>
            <a:srgbClr val="F1F5F9"/>
          </a:solidFill>
          <a:ln w="12700">
            <a:solidFill>
              <a:srgbClr val="F1F5F9"/>
            </a:solidFill>
            <a:prstDash val="solid"/>
          </a:ln>
        </p:spPr>
      </p:sp>
      <p:sp>
        <p:nvSpPr>
          <p:cNvPr id="6" name="Text 2"/>
          <p:cNvSpPr txBox="1"/>
          <p:nvPr/>
        </p:nvSpPr>
        <p:spPr>
          <a:xfrm>
            <a:off x="5852160" y="1234440"/>
            <a:ext cx="2743200" cy="3291840"/>
          </a:xfrm>
          <a:prstGeom prst="rect">
            <a:avLst/>
          </a:prstGeom>
          <a:noFill/>
        </p:spPr>
        <p:txBody>
          <a:bodyPr wrap="square" lIns="0" tIns="0" rIns="0" bIns="0" rtlCol="0" anchor="t"/>
          <a:lstStyle/>
          <a:p>
            <a:pPr marL="0" indent="0">
              <a:buNone/>
            </a:pPr>
            <a:r>
              <a:rPr lang="en-US" sz="1600" b="1" dirty="0">
                <a:solidFill>
                  <a:srgbClr val="0F766E"/>
                </a:solidFill>
                <a:latin typeface="Calibri" panose="020F0502020204030204" pitchFamily="34" charset="0"/>
                <a:ea typeface="Calibri" panose="020F0502020204030204" pitchFamily="34" charset="-122"/>
                <a:cs typeface="Calibri" panose="020F0502020204030204" pitchFamily="34" charset="-120"/>
              </a:rPr>
              <a:t>What we learned</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Logistic Regression won on CV AUC (0.83).</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Neural network (L2-regularised) close behind: no clear gain on 1,470 rows.</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Random Forest and XGBoost did not beat the simpler model.</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Naive Bayes: independence assumption broken by correlated features.</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LDA / QDA: several features strongly skewed, so Gaussian assumption fails.</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Bayesian classification and discriminant analysis</a:t>
            </a:r>
            <a:endParaRPr lang="en-US" sz="2600" dirty="0"/>
          </a:p>
        </p:txBody>
      </p:sp>
      <p:sp>
        <p:nvSpPr>
          <p:cNvPr id="4" name="card"/>
          <p:cNvSpPr/>
          <p:nvPr/>
        </p:nvSpPr>
        <p:spPr>
          <a:xfrm>
            <a:off x="365760" y="1097280"/>
            <a:ext cx="4114800" cy="3566160"/>
          </a:xfrm>
          <a:prstGeom prst="roundRect">
            <a:avLst>
              <a:gd name="adj" fmla="val 2051"/>
            </a:avLst>
          </a:prstGeom>
          <a:solidFill>
            <a:srgbClr val="F1F5F9"/>
          </a:solidFill>
          <a:ln w="12700">
            <a:solidFill>
              <a:srgbClr val="F1F5F9"/>
            </a:solidFill>
            <a:prstDash val="solid"/>
          </a:ln>
        </p:spPr>
      </p:sp>
      <p:sp>
        <p:nvSpPr>
          <p:cNvPr id="5" name="card"/>
          <p:cNvSpPr/>
          <p:nvPr/>
        </p:nvSpPr>
        <p:spPr>
          <a:xfrm>
            <a:off x="4663440" y="1097280"/>
            <a:ext cx="4114800" cy="3566160"/>
          </a:xfrm>
          <a:prstGeom prst="roundRect">
            <a:avLst>
              <a:gd name="adj" fmla="val 2051"/>
            </a:avLst>
          </a:prstGeom>
          <a:solidFill>
            <a:srgbClr val="F1F5F9"/>
          </a:solidFill>
          <a:ln w="12700">
            <a:solidFill>
              <a:srgbClr val="F1F5F9"/>
            </a:solidFill>
            <a:prstDash val="solid"/>
          </a:ln>
        </p:spPr>
      </p:sp>
      <p:sp>
        <p:nvSpPr>
          <p:cNvPr id="6" name="Text 3"/>
          <p:cNvSpPr txBox="1"/>
          <p:nvPr/>
        </p:nvSpPr>
        <p:spPr>
          <a:xfrm>
            <a:off x="548640" y="1234440"/>
            <a:ext cx="3749040" cy="3291840"/>
          </a:xfrm>
          <a:prstGeom prst="rect">
            <a:avLst/>
          </a:prstGeom>
          <a:noFill/>
        </p:spPr>
        <p:txBody>
          <a:bodyPr wrap="square" lIns="0" tIns="0" rIns="0" bIns="0" rtlCol="0" anchor="t"/>
          <a:lstStyle/>
          <a:p>
            <a:pPr marL="0" indent="0">
              <a:buNone/>
            </a:pPr>
            <a:r>
              <a:rPr lang="en-US" sz="1700" b="1" dirty="0">
                <a:solidFill>
                  <a:srgbClr val="0F766E"/>
                </a:solidFill>
                <a:latin typeface="Calibri" panose="020F0502020204030204" pitchFamily="34" charset="0"/>
                <a:ea typeface="Calibri" panose="020F0502020204030204" pitchFamily="34" charset="-122"/>
                <a:cs typeface="Calibri" panose="020F0502020204030204" pitchFamily="34" charset="-120"/>
              </a:rPr>
              <a:t>Naive Bayes</a:t>
            </a:r>
            <a:endParaRPr lang="en-US" sz="1500" dirty="0"/>
          </a:p>
          <a:p>
            <a:pPr marL="0" indent="0">
              <a:buNone/>
            </a:pPr>
            <a:r>
              <a:rPr lang="en-US" sz="1400" i="1" dirty="0">
                <a:solidFill>
                  <a:srgbClr val="1B2A41"/>
                </a:solidFill>
                <a:latin typeface="Calibri" panose="020F0502020204030204" pitchFamily="34" charset="0"/>
                <a:ea typeface="Calibri" panose="020F0502020204030204" pitchFamily="34" charset="-122"/>
                <a:cs typeface="Calibri" panose="020F0502020204030204" pitchFamily="34" charset="-120"/>
              </a:rPr>
              <a:t>P(Left | x)  ∝  P(x | Left) × P(Left)</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Prior: 16.2% of employees leave.</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Leavers have lower age, experience, job level and satisfaction, and longer commutes.</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Recall 0.574 but low precision and the lowest AUC.</a:t>
            </a:r>
            <a:endParaRPr lang="en-US" sz="1500" dirty="0"/>
          </a:p>
        </p:txBody>
      </p:sp>
      <p:sp>
        <p:nvSpPr>
          <p:cNvPr id="7" name="Text 4"/>
          <p:cNvSpPr txBox="1"/>
          <p:nvPr/>
        </p:nvSpPr>
        <p:spPr>
          <a:xfrm>
            <a:off x="4846320" y="1234440"/>
            <a:ext cx="3749040" cy="3291840"/>
          </a:xfrm>
          <a:prstGeom prst="rect">
            <a:avLst/>
          </a:prstGeom>
          <a:noFill/>
        </p:spPr>
        <p:txBody>
          <a:bodyPr wrap="square" lIns="0" tIns="0" rIns="0" bIns="0" rtlCol="0" anchor="t"/>
          <a:lstStyle/>
          <a:p>
            <a:pPr marL="0" indent="0">
              <a:buNone/>
            </a:pPr>
            <a:r>
              <a:rPr lang="en-US" sz="1700" b="1" dirty="0">
                <a:solidFill>
                  <a:srgbClr val="0F766E"/>
                </a:solidFill>
                <a:latin typeface="Calibri" panose="020F0502020204030204" pitchFamily="34" charset="0"/>
                <a:ea typeface="Calibri" panose="020F0502020204030204" pitchFamily="34" charset="-122"/>
                <a:cs typeface="Calibri" panose="020F0502020204030204" pitchFamily="34" charset="-120"/>
              </a:rPr>
              <a:t>LDA and QDA</a:t>
            </a:r>
            <a:endParaRPr lang="en-US" sz="1500" dirty="0"/>
          </a:p>
          <a:p>
            <a:pPr marL="0" indent="0">
              <a:buNone/>
            </a:pPr>
            <a:r>
              <a:rPr lang="en-US" sz="1400" i="1" dirty="0">
                <a:solidFill>
                  <a:srgbClr val="1B2A41"/>
                </a:solidFill>
                <a:latin typeface="Calibri" panose="020F0502020204030204" pitchFamily="34" charset="0"/>
                <a:ea typeface="Calibri" panose="020F0502020204030204" pitchFamily="34" charset="-122"/>
                <a:cs typeface="Calibri" panose="020F0502020204030204" pitchFamily="34" charset="-120"/>
              </a:rPr>
              <a:t>Assumes Gaussian classes</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Skewness up to about 3 (StabilityScore): normality is violated.</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Class covariances fairly similar (0.16 to 0.18), supporting LDA over QDA.</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LDA test AUC 0.707, recall 0.234.</a:t>
            </a:r>
            <a:endParaRPr lang="en-US" sz="15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Kept as comparison, not deployed.</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Final model and risk bands</a:t>
            </a:r>
            <a:endParaRPr lang="en-US" sz="2600" dirty="0"/>
          </a:p>
        </p:txBody>
      </p:sp>
      <p:sp>
        <p:nvSpPr>
          <p:cNvPr id="4" name="card"/>
          <p:cNvSpPr/>
          <p:nvPr/>
        </p:nvSpPr>
        <p:spPr>
          <a:xfrm>
            <a:off x="365760" y="1097280"/>
            <a:ext cx="1280160" cy="1097280"/>
          </a:xfrm>
          <a:prstGeom prst="roundRect">
            <a:avLst>
              <a:gd name="adj" fmla="val 6667"/>
            </a:avLst>
          </a:prstGeom>
          <a:solidFill>
            <a:srgbClr val="0F766E"/>
          </a:solidFill>
          <a:ln w="12700">
            <a:solidFill>
              <a:srgbClr val="0F766E"/>
            </a:solidFill>
            <a:prstDash val="solid"/>
          </a:ln>
        </p:spPr>
      </p:sp>
      <p:sp>
        <p:nvSpPr>
          <p:cNvPr id="5" name="Text 2"/>
          <p:cNvSpPr txBox="1"/>
          <p:nvPr/>
        </p:nvSpPr>
        <p:spPr>
          <a:xfrm>
            <a:off x="411480" y="1188720"/>
            <a:ext cx="1188720" cy="50292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Logistic Regression</a:t>
            </a:r>
            <a:endParaRPr lang="en-US" sz="1400" dirty="0"/>
          </a:p>
        </p:txBody>
      </p:sp>
      <p:sp>
        <p:nvSpPr>
          <p:cNvPr id="6" name="Text 3"/>
          <p:cNvSpPr txBox="1"/>
          <p:nvPr/>
        </p:nvSpPr>
        <p:spPr>
          <a:xfrm>
            <a:off x="411480" y="1737360"/>
            <a:ext cx="1188720" cy="365760"/>
          </a:xfrm>
          <a:prstGeom prst="rect">
            <a:avLst/>
          </a:prstGeom>
          <a:noFill/>
        </p:spPr>
        <p:txBody>
          <a:bodyPr wrap="square" lIns="0" tIns="0" rIns="0" bIns="0" rtlCol="0" anchor="t"/>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selected model</a:t>
            </a:r>
            <a:endParaRPr lang="en-US" sz="1100" dirty="0"/>
          </a:p>
        </p:txBody>
      </p:sp>
      <p:sp>
        <p:nvSpPr>
          <p:cNvPr id="7" name="card"/>
          <p:cNvSpPr/>
          <p:nvPr/>
        </p:nvSpPr>
        <p:spPr>
          <a:xfrm>
            <a:off x="1783080" y="1097280"/>
            <a:ext cx="1280160" cy="1097280"/>
          </a:xfrm>
          <a:prstGeom prst="roundRect">
            <a:avLst>
              <a:gd name="adj" fmla="val 6667"/>
            </a:avLst>
          </a:prstGeom>
          <a:solidFill>
            <a:srgbClr val="F1F5F9"/>
          </a:solidFill>
          <a:ln w="12700">
            <a:solidFill>
              <a:srgbClr val="F1F5F9"/>
            </a:solidFill>
            <a:prstDash val="solid"/>
          </a:ln>
        </p:spPr>
      </p:sp>
      <p:sp>
        <p:nvSpPr>
          <p:cNvPr id="8" name="Text 5"/>
          <p:cNvSpPr txBox="1"/>
          <p:nvPr/>
        </p:nvSpPr>
        <p:spPr>
          <a:xfrm>
            <a:off x="1828800" y="1188720"/>
            <a:ext cx="1188720" cy="502920"/>
          </a:xfrm>
          <a:prstGeom prst="rect">
            <a:avLst/>
          </a:prstGeom>
          <a:noFill/>
        </p:spPr>
        <p:txBody>
          <a:bodyPr wrap="square" lIns="0" tIns="0" rIns="0" bIns="0" rtlCol="0" anchor="ctr"/>
          <a:lstStyle/>
          <a:p>
            <a:pPr marL="0" indent="0" algn="ctr">
              <a:buNone/>
            </a:pPr>
            <a:r>
              <a:rPr lang="en-US" sz="2400" b="1" dirty="0">
                <a:solidFill>
                  <a:srgbClr val="0F766E"/>
                </a:solidFill>
                <a:latin typeface="Georgia" panose="02040502050405020303" pitchFamily="34" charset="0"/>
                <a:ea typeface="Georgia" panose="02040502050405020303" pitchFamily="34" charset="-122"/>
                <a:cs typeface="Georgia" panose="02040502050405020303" pitchFamily="34" charset="-120"/>
              </a:rPr>
              <a:t>0.6</a:t>
            </a:r>
            <a:endParaRPr lang="en-US" sz="2400" dirty="0"/>
          </a:p>
        </p:txBody>
      </p:sp>
      <p:sp>
        <p:nvSpPr>
          <p:cNvPr id="9" name="Text 6"/>
          <p:cNvSpPr txBox="1"/>
          <p:nvPr/>
        </p:nvSpPr>
        <p:spPr>
          <a:xfrm>
            <a:off x="1828800" y="1737360"/>
            <a:ext cx="1188720" cy="365760"/>
          </a:xfrm>
          <a:prstGeom prst="rect">
            <a:avLst/>
          </a:prstGeom>
          <a:noFill/>
        </p:spPr>
        <p:txBody>
          <a:bodyPr wrap="square" lIns="0" tIns="0" rIns="0" bIns="0" rtlCol="0" anchor="t"/>
          <a:lstStyle/>
          <a:p>
            <a:pPr marL="0" indent="0" algn="ctr">
              <a:buNone/>
            </a:pPr>
            <a:r>
              <a:rPr lang="en-US" sz="1100" dirty="0">
                <a:solidFill>
                  <a:srgbClr val="1B2A41"/>
                </a:solidFill>
                <a:latin typeface="Calibri" panose="020F0502020204030204" pitchFamily="34" charset="0"/>
                <a:ea typeface="Calibri" panose="020F0502020204030204" pitchFamily="34" charset="-122"/>
                <a:cs typeface="Calibri" panose="020F0502020204030204" pitchFamily="34" charset="-120"/>
              </a:rPr>
              <a:t>decision threshold</a:t>
            </a:r>
            <a:endParaRPr lang="en-US" sz="1100" dirty="0"/>
          </a:p>
        </p:txBody>
      </p:sp>
      <p:sp>
        <p:nvSpPr>
          <p:cNvPr id="10" name="card"/>
          <p:cNvSpPr/>
          <p:nvPr/>
        </p:nvSpPr>
        <p:spPr>
          <a:xfrm>
            <a:off x="3200400" y="1097280"/>
            <a:ext cx="1280160" cy="1097280"/>
          </a:xfrm>
          <a:prstGeom prst="roundRect">
            <a:avLst>
              <a:gd name="adj" fmla="val 6667"/>
            </a:avLst>
          </a:prstGeom>
          <a:solidFill>
            <a:srgbClr val="F1F5F9"/>
          </a:solidFill>
          <a:ln w="12700">
            <a:solidFill>
              <a:srgbClr val="F1F5F9"/>
            </a:solidFill>
            <a:prstDash val="solid"/>
          </a:ln>
        </p:spPr>
      </p:sp>
      <p:sp>
        <p:nvSpPr>
          <p:cNvPr id="11" name="Text 8"/>
          <p:cNvSpPr txBox="1"/>
          <p:nvPr/>
        </p:nvSpPr>
        <p:spPr>
          <a:xfrm>
            <a:off x="3246120" y="1188720"/>
            <a:ext cx="1188720" cy="502920"/>
          </a:xfrm>
          <a:prstGeom prst="rect">
            <a:avLst/>
          </a:prstGeom>
          <a:noFill/>
        </p:spPr>
        <p:txBody>
          <a:bodyPr wrap="square" lIns="0" tIns="0" rIns="0" bIns="0" rtlCol="0" anchor="ctr"/>
          <a:lstStyle/>
          <a:p>
            <a:pPr marL="0" indent="0" algn="ctr">
              <a:buNone/>
            </a:pPr>
            <a:r>
              <a:rPr lang="en-US" sz="2400" b="1" dirty="0">
                <a:solidFill>
                  <a:srgbClr val="0F766E"/>
                </a:solidFill>
                <a:latin typeface="Georgia" panose="02040502050405020303" pitchFamily="34" charset="0"/>
                <a:ea typeface="Georgia" panose="02040502050405020303" pitchFamily="34" charset="-122"/>
                <a:cs typeface="Georgia" panose="02040502050405020303" pitchFamily="34" charset="-120"/>
              </a:rPr>
              <a:t>0.596</a:t>
            </a:r>
            <a:endParaRPr lang="en-US" sz="2400" dirty="0"/>
          </a:p>
        </p:txBody>
      </p:sp>
      <p:sp>
        <p:nvSpPr>
          <p:cNvPr id="12" name="Text 9"/>
          <p:cNvSpPr txBox="1"/>
          <p:nvPr/>
        </p:nvSpPr>
        <p:spPr>
          <a:xfrm>
            <a:off x="3246120" y="1737360"/>
            <a:ext cx="1188720" cy="365760"/>
          </a:xfrm>
          <a:prstGeom prst="rect">
            <a:avLst/>
          </a:prstGeom>
          <a:noFill/>
        </p:spPr>
        <p:txBody>
          <a:bodyPr wrap="square" lIns="0" tIns="0" rIns="0" bIns="0" rtlCol="0" anchor="t"/>
          <a:lstStyle/>
          <a:p>
            <a:pPr marL="0" indent="0" algn="ctr">
              <a:buNone/>
            </a:pPr>
            <a:r>
              <a:rPr lang="en-US" sz="1100" dirty="0">
                <a:solidFill>
                  <a:srgbClr val="1B2A41"/>
                </a:solidFill>
                <a:latin typeface="Calibri" panose="020F0502020204030204" pitchFamily="34" charset="0"/>
                <a:ea typeface="Calibri" panose="020F0502020204030204" pitchFamily="34" charset="-122"/>
                <a:cs typeface="Calibri" panose="020F0502020204030204" pitchFamily="34" charset="-120"/>
              </a:rPr>
              <a:t>recall</a:t>
            </a:r>
            <a:endParaRPr lang="en-US" sz="1100" dirty="0"/>
          </a:p>
        </p:txBody>
      </p:sp>
      <p:sp>
        <p:nvSpPr>
          <p:cNvPr id="13" name="card"/>
          <p:cNvSpPr/>
          <p:nvPr/>
        </p:nvSpPr>
        <p:spPr>
          <a:xfrm>
            <a:off x="4617720" y="1097280"/>
            <a:ext cx="1280160" cy="1097280"/>
          </a:xfrm>
          <a:prstGeom prst="roundRect">
            <a:avLst>
              <a:gd name="adj" fmla="val 6667"/>
            </a:avLst>
          </a:prstGeom>
          <a:solidFill>
            <a:srgbClr val="F1F5F9"/>
          </a:solidFill>
          <a:ln w="12700">
            <a:solidFill>
              <a:srgbClr val="F1F5F9"/>
            </a:solidFill>
            <a:prstDash val="solid"/>
          </a:ln>
        </p:spPr>
      </p:sp>
      <p:sp>
        <p:nvSpPr>
          <p:cNvPr id="14" name="Text 11"/>
          <p:cNvSpPr txBox="1"/>
          <p:nvPr/>
        </p:nvSpPr>
        <p:spPr>
          <a:xfrm>
            <a:off x="4663440" y="1188720"/>
            <a:ext cx="1188720" cy="502920"/>
          </a:xfrm>
          <a:prstGeom prst="rect">
            <a:avLst/>
          </a:prstGeom>
          <a:noFill/>
        </p:spPr>
        <p:txBody>
          <a:bodyPr wrap="square" lIns="0" tIns="0" rIns="0" bIns="0" rtlCol="0" anchor="ctr"/>
          <a:lstStyle/>
          <a:p>
            <a:pPr marL="0" indent="0" algn="ctr">
              <a:buNone/>
            </a:pPr>
            <a:r>
              <a:rPr lang="en-US" sz="2400" b="1" dirty="0">
                <a:solidFill>
                  <a:srgbClr val="0F766E"/>
                </a:solidFill>
                <a:latin typeface="Georgia" panose="02040502050405020303" pitchFamily="34" charset="0"/>
                <a:ea typeface="Georgia" panose="02040502050405020303" pitchFamily="34" charset="-122"/>
                <a:cs typeface="Georgia" panose="02040502050405020303" pitchFamily="34" charset="-120"/>
              </a:rPr>
              <a:t>0.808</a:t>
            </a:r>
            <a:endParaRPr lang="en-US" sz="2400" dirty="0"/>
          </a:p>
        </p:txBody>
      </p:sp>
      <p:sp>
        <p:nvSpPr>
          <p:cNvPr id="15" name="Text 12"/>
          <p:cNvSpPr txBox="1"/>
          <p:nvPr/>
        </p:nvSpPr>
        <p:spPr>
          <a:xfrm>
            <a:off x="4663440" y="1737360"/>
            <a:ext cx="1188720" cy="365760"/>
          </a:xfrm>
          <a:prstGeom prst="rect">
            <a:avLst/>
          </a:prstGeom>
          <a:noFill/>
        </p:spPr>
        <p:txBody>
          <a:bodyPr wrap="square" lIns="0" tIns="0" rIns="0" bIns="0" rtlCol="0" anchor="t"/>
          <a:lstStyle/>
          <a:p>
            <a:pPr marL="0" indent="0" algn="ctr">
              <a:buNone/>
            </a:pPr>
            <a:r>
              <a:rPr lang="en-US" sz="1100" dirty="0">
                <a:solidFill>
                  <a:srgbClr val="1B2A41"/>
                </a:solidFill>
                <a:latin typeface="Calibri" panose="020F0502020204030204" pitchFamily="34" charset="0"/>
                <a:ea typeface="Calibri" panose="020F0502020204030204" pitchFamily="34" charset="-122"/>
                <a:cs typeface="Calibri" panose="020F0502020204030204" pitchFamily="34" charset="-120"/>
              </a:rPr>
              <a:t>ROC-AUC</a:t>
            </a:r>
            <a:endParaRPr lang="en-US" sz="1100" dirty="0"/>
          </a:p>
        </p:txBody>
      </p:sp>
      <p:sp>
        <p:nvSpPr>
          <p:cNvPr id="16" name="Text 13"/>
          <p:cNvSpPr txBox="1"/>
          <p:nvPr/>
        </p:nvSpPr>
        <p:spPr>
          <a:xfrm>
            <a:off x="365760" y="2423160"/>
            <a:ext cx="5577840" cy="2194560"/>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Threshold chosen to minimise expected cost: a missed leaver counts 5x an unnecessary stay conversation.</a:t>
            </a:r>
            <a:endParaRPr lang="en-US" sz="13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Tuned: precision 0.519, recall 0.596, F1 0.554.</a:t>
            </a:r>
            <a:endParaRPr lang="en-US" sz="1300" dirty="0"/>
          </a:p>
          <a:p>
            <a:pPr marL="342900" indent="-342900">
              <a:spcAft>
                <a:spcPts val="600"/>
              </a:spcAft>
              <a:buSzPct val="100000"/>
              <a:buChar char="•"/>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Scores are out-of-fold, so no employee is scored by a model that saw them.</a:t>
            </a:r>
            <a:endParaRPr lang="en-US" sz="1300" dirty="0"/>
          </a:p>
        </p:txBody>
      </p:sp>
      <p:graphicFrame>
        <p:nvGraphicFramePr>
          <p:cNvPr id="17" name="Chart 0"/>
          <p:cNvGraphicFramePr/>
          <p:nvPr/>
        </p:nvGraphicFramePr>
        <p:xfrm>
          <a:off x="5943600" y="1051560"/>
          <a:ext cx="3017520" cy="3566160"/>
        </p:xfrm>
        <a:graphic>
          <a:graphicData uri="http://schemas.openxmlformats.org/drawingml/2006/chart">
            <c:chart xmlns:c="http://schemas.openxmlformats.org/drawingml/2006/chart" xmlns:r="http://schemas.openxmlformats.org/officeDocument/2006/relationships" r:id="rId1"/>
          </a:graphicData>
        </a:graphic>
      </p:graphicFrame>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Deployment architecture</a:t>
            </a:r>
            <a:endParaRPr lang="en-US" sz="2600" dirty="0"/>
          </a:p>
        </p:txBody>
      </p:sp>
      <p:sp>
        <p:nvSpPr>
          <p:cNvPr id="4" name="card"/>
          <p:cNvSpPr/>
          <p:nvPr/>
        </p:nvSpPr>
        <p:spPr>
          <a:xfrm>
            <a:off x="365760" y="1280160"/>
            <a:ext cx="2011680" cy="2286000"/>
          </a:xfrm>
          <a:prstGeom prst="roundRect">
            <a:avLst>
              <a:gd name="adj" fmla="val 3636"/>
            </a:avLst>
          </a:prstGeom>
          <a:solidFill>
            <a:srgbClr val="1B2A41"/>
          </a:solidFill>
          <a:ln w="12700">
            <a:solidFill>
              <a:srgbClr val="1B2A41"/>
            </a:solidFill>
            <a:prstDash val="solid"/>
          </a:ln>
        </p:spPr>
      </p:sp>
      <p:sp>
        <p:nvSpPr>
          <p:cNvPr id="5" name="Text 2"/>
          <p:cNvSpPr txBox="1"/>
          <p:nvPr/>
        </p:nvSpPr>
        <p:spPr>
          <a:xfrm>
            <a:off x="502920" y="1417320"/>
            <a:ext cx="1737360" cy="457200"/>
          </a:xfrm>
          <a:prstGeom prst="rect">
            <a:avLst/>
          </a:prstGeom>
          <a:noFill/>
        </p:spPr>
        <p:txBody>
          <a:bodyPr wrap="square" lIns="0" tIns="0" rIns="0" bIns="0" rtlCol="0" anchor="t"/>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GitHub</a:t>
            </a:r>
            <a:endParaRPr lang="en-US" sz="1700" dirty="0"/>
          </a:p>
        </p:txBody>
      </p:sp>
      <p:sp>
        <p:nvSpPr>
          <p:cNvPr id="6" name="Text 3"/>
          <p:cNvSpPr txBox="1"/>
          <p:nvPr/>
        </p:nvSpPr>
        <p:spPr>
          <a:xfrm>
            <a:off x="502920" y="1965960"/>
            <a:ext cx="1737360" cy="548640"/>
          </a:xfrm>
          <a:prstGeom prst="rect">
            <a:avLst/>
          </a:prstGeom>
          <a:noFill/>
        </p:spPr>
        <p:txBody>
          <a:bodyPr wrap="square" lIns="0" tIns="0" rIns="0" bIns="0" rtlCol="0" anchor="t"/>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code, model, history</a:t>
            </a:r>
            <a:endParaRPr lang="en-US" sz="1300" dirty="0"/>
          </a:p>
        </p:txBody>
      </p:sp>
      <p:sp>
        <p:nvSpPr>
          <p:cNvPr id="7" name="Text 4"/>
          <p:cNvSpPr txBox="1"/>
          <p:nvPr/>
        </p:nvSpPr>
        <p:spPr>
          <a:xfrm>
            <a:off x="502920" y="2743200"/>
            <a:ext cx="1737360" cy="731520"/>
          </a:xfrm>
          <a:prstGeom prst="rect">
            <a:avLst/>
          </a:prstGeom>
          <a:noFill/>
        </p:spPr>
        <p:txBody>
          <a:bodyPr wrap="square" lIns="0" tIns="0" rIns="0" bIns="0" rtlCol="0" anchor="t"/>
          <a:lstStyle/>
          <a:p>
            <a:pPr marL="0" indent="0">
              <a:buNone/>
            </a:pPr>
            <a:r>
              <a:rPr lang="en-US" sz="1000" dirty="0">
                <a:solidFill>
                  <a:srgbClr val="2DD4BF"/>
                </a:solidFill>
                <a:latin typeface="Calibri" panose="020F0502020204030204" pitchFamily="34" charset="0"/>
                <a:ea typeface="Calibri" panose="020F0502020204030204" pitchFamily="34" charset="-122"/>
                <a:cs typeface="Calibri" panose="020F0502020204030204" pitchFamily="34" charset="-120"/>
              </a:rPr>
              <a:t>github.com/sayali150906/attrition-platform</a:t>
            </a:r>
            <a:endParaRPr lang="en-US" sz="1000" dirty="0"/>
          </a:p>
        </p:txBody>
      </p:sp>
      <p:sp>
        <p:nvSpPr>
          <p:cNvPr id="8" name="card"/>
          <p:cNvSpPr/>
          <p:nvPr/>
        </p:nvSpPr>
        <p:spPr>
          <a:xfrm>
            <a:off x="2514600" y="1280160"/>
            <a:ext cx="2011680" cy="2286000"/>
          </a:xfrm>
          <a:prstGeom prst="roundRect">
            <a:avLst>
              <a:gd name="adj" fmla="val 3636"/>
            </a:avLst>
          </a:prstGeom>
          <a:solidFill>
            <a:srgbClr val="F1F5F9"/>
          </a:solidFill>
          <a:ln w="12700">
            <a:solidFill>
              <a:srgbClr val="F1F5F9"/>
            </a:solidFill>
            <a:prstDash val="solid"/>
          </a:ln>
        </p:spPr>
      </p:sp>
      <p:sp>
        <p:nvSpPr>
          <p:cNvPr id="9" name="Text 6"/>
          <p:cNvSpPr txBox="1"/>
          <p:nvPr/>
        </p:nvSpPr>
        <p:spPr>
          <a:xfrm>
            <a:off x="2651760" y="1417320"/>
            <a:ext cx="1737360" cy="457200"/>
          </a:xfrm>
          <a:prstGeom prst="rect">
            <a:avLst/>
          </a:prstGeom>
          <a:noFill/>
        </p:spPr>
        <p:txBody>
          <a:bodyPr wrap="square" lIns="0" tIns="0" rIns="0" bIns="0" rtlCol="0" anchor="t"/>
          <a:lstStyle/>
          <a:p>
            <a:pPr marL="0" indent="0">
              <a:buNone/>
            </a:pPr>
            <a:r>
              <a:rPr lang="en-US" sz="1700" b="1" dirty="0">
                <a:solidFill>
                  <a:srgbClr val="0F766E"/>
                </a:solidFill>
                <a:latin typeface="Georgia" panose="02040502050405020303" pitchFamily="34" charset="0"/>
                <a:ea typeface="Georgia" panose="02040502050405020303" pitchFamily="34" charset="-122"/>
                <a:cs typeface="Georgia" panose="02040502050405020303" pitchFamily="34" charset="-120"/>
              </a:rPr>
              <a:t>Streamlit Cloud</a:t>
            </a:r>
            <a:endParaRPr lang="en-US" sz="1700" dirty="0"/>
          </a:p>
        </p:txBody>
      </p:sp>
      <p:sp>
        <p:nvSpPr>
          <p:cNvPr id="10" name="Text 7"/>
          <p:cNvSpPr txBox="1"/>
          <p:nvPr/>
        </p:nvSpPr>
        <p:spPr>
          <a:xfrm>
            <a:off x="2651760" y="1965960"/>
            <a:ext cx="173736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dashboard + live prediction</a:t>
            </a:r>
            <a:endParaRPr lang="en-US" sz="1300" dirty="0"/>
          </a:p>
        </p:txBody>
      </p:sp>
      <p:sp>
        <p:nvSpPr>
          <p:cNvPr id="11" name="Text 8"/>
          <p:cNvSpPr txBox="1"/>
          <p:nvPr/>
        </p:nvSpPr>
        <p:spPr>
          <a:xfrm>
            <a:off x="2651760" y="2743200"/>
            <a:ext cx="1737360" cy="731520"/>
          </a:xfrm>
          <a:prstGeom prst="rect">
            <a:avLst/>
          </a:prstGeom>
          <a:noFill/>
        </p:spPr>
        <p:txBody>
          <a:bodyPr wrap="square" lIns="0" tIns="0" rIns="0" bIns="0" rtlCol="0" anchor="t"/>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attrition-platform-nisgtceckca5oum9fw7blv.streamlit.app</a:t>
            </a:r>
            <a:endParaRPr lang="en-US" sz="1000" dirty="0"/>
          </a:p>
        </p:txBody>
      </p:sp>
      <p:sp>
        <p:nvSpPr>
          <p:cNvPr id="12" name="card"/>
          <p:cNvSpPr/>
          <p:nvPr/>
        </p:nvSpPr>
        <p:spPr>
          <a:xfrm>
            <a:off x="4663440" y="1280160"/>
            <a:ext cx="2011680" cy="2286000"/>
          </a:xfrm>
          <a:prstGeom prst="roundRect">
            <a:avLst>
              <a:gd name="adj" fmla="val 3636"/>
            </a:avLst>
          </a:prstGeom>
          <a:solidFill>
            <a:srgbClr val="F1F5F9"/>
          </a:solidFill>
          <a:ln w="12700">
            <a:solidFill>
              <a:srgbClr val="F1F5F9"/>
            </a:solidFill>
            <a:prstDash val="solid"/>
          </a:ln>
        </p:spPr>
      </p:sp>
      <p:sp>
        <p:nvSpPr>
          <p:cNvPr id="13" name="Text 10"/>
          <p:cNvSpPr txBox="1"/>
          <p:nvPr/>
        </p:nvSpPr>
        <p:spPr>
          <a:xfrm>
            <a:off x="4800600" y="1417320"/>
            <a:ext cx="1737360" cy="457200"/>
          </a:xfrm>
          <a:prstGeom prst="rect">
            <a:avLst/>
          </a:prstGeom>
          <a:noFill/>
        </p:spPr>
        <p:txBody>
          <a:bodyPr wrap="square" lIns="0" tIns="0" rIns="0" bIns="0" rtlCol="0" anchor="t"/>
          <a:lstStyle/>
          <a:p>
            <a:pPr marL="0" indent="0">
              <a:buNone/>
            </a:pPr>
            <a:r>
              <a:rPr lang="en-US" sz="1700" b="1" dirty="0">
                <a:solidFill>
                  <a:srgbClr val="0F766E"/>
                </a:solidFill>
                <a:latin typeface="Georgia" panose="02040502050405020303" pitchFamily="34" charset="0"/>
                <a:ea typeface="Georgia" panose="02040502050405020303" pitchFamily="34" charset="-122"/>
                <a:cs typeface="Georgia" panose="02040502050405020303" pitchFamily="34" charset="-120"/>
              </a:rPr>
              <a:t>Render + FastAPI</a:t>
            </a:r>
            <a:endParaRPr lang="en-US" sz="1700" dirty="0"/>
          </a:p>
        </p:txBody>
      </p:sp>
      <p:sp>
        <p:nvSpPr>
          <p:cNvPr id="14" name="Text 11"/>
          <p:cNvSpPr txBox="1"/>
          <p:nvPr/>
        </p:nvSpPr>
        <p:spPr>
          <a:xfrm>
            <a:off x="4800600" y="1965960"/>
            <a:ext cx="173736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REST API with /docs</a:t>
            </a:r>
            <a:endParaRPr lang="en-US" sz="1300" dirty="0"/>
          </a:p>
        </p:txBody>
      </p:sp>
      <p:sp>
        <p:nvSpPr>
          <p:cNvPr id="15" name="Text 12"/>
          <p:cNvSpPr txBox="1"/>
          <p:nvPr/>
        </p:nvSpPr>
        <p:spPr>
          <a:xfrm>
            <a:off x="4800600" y="2743200"/>
            <a:ext cx="1737360" cy="731520"/>
          </a:xfrm>
          <a:prstGeom prst="rect">
            <a:avLst/>
          </a:prstGeom>
          <a:noFill/>
        </p:spPr>
        <p:txBody>
          <a:bodyPr wrap="square" lIns="0" tIns="0" rIns="0" bIns="0" rtlCol="0" anchor="t"/>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attrition-platform.onrender.com/docs</a:t>
            </a:r>
            <a:endParaRPr lang="en-US" sz="1000" dirty="0"/>
          </a:p>
        </p:txBody>
      </p:sp>
      <p:sp>
        <p:nvSpPr>
          <p:cNvPr id="16" name="card"/>
          <p:cNvSpPr/>
          <p:nvPr/>
        </p:nvSpPr>
        <p:spPr>
          <a:xfrm>
            <a:off x="6812280" y="1280160"/>
            <a:ext cx="2011680" cy="2286000"/>
          </a:xfrm>
          <a:prstGeom prst="roundRect">
            <a:avLst>
              <a:gd name="adj" fmla="val 3636"/>
            </a:avLst>
          </a:prstGeom>
          <a:solidFill>
            <a:srgbClr val="F1F5F9"/>
          </a:solidFill>
          <a:ln w="12700">
            <a:solidFill>
              <a:srgbClr val="F1F5F9"/>
            </a:solidFill>
            <a:prstDash val="solid"/>
          </a:ln>
        </p:spPr>
      </p:sp>
      <p:sp>
        <p:nvSpPr>
          <p:cNvPr id="17" name="Text 14"/>
          <p:cNvSpPr txBox="1"/>
          <p:nvPr/>
        </p:nvSpPr>
        <p:spPr>
          <a:xfrm>
            <a:off x="6949440" y="1417320"/>
            <a:ext cx="1737360" cy="457200"/>
          </a:xfrm>
          <a:prstGeom prst="rect">
            <a:avLst/>
          </a:prstGeom>
          <a:noFill/>
        </p:spPr>
        <p:txBody>
          <a:bodyPr wrap="square" lIns="0" tIns="0" rIns="0" bIns="0" rtlCol="0" anchor="t"/>
          <a:lstStyle/>
          <a:p>
            <a:pPr marL="0" indent="0">
              <a:buNone/>
            </a:pPr>
            <a:r>
              <a:rPr lang="en-US" sz="1700" b="1" dirty="0">
                <a:solidFill>
                  <a:srgbClr val="0F766E"/>
                </a:solidFill>
                <a:latin typeface="Georgia" panose="02040502050405020303" pitchFamily="34" charset="0"/>
                <a:ea typeface="Georgia" panose="02040502050405020303" pitchFamily="34" charset="-122"/>
                <a:cs typeface="Georgia" panose="02040502050405020303" pitchFamily="34" charset="-120"/>
              </a:rPr>
              <a:t>GitHub Actions</a:t>
            </a:r>
            <a:endParaRPr lang="en-US" sz="1700" dirty="0"/>
          </a:p>
        </p:txBody>
      </p:sp>
      <p:sp>
        <p:nvSpPr>
          <p:cNvPr id="18" name="Text 15"/>
          <p:cNvSpPr txBox="1"/>
          <p:nvPr/>
        </p:nvSpPr>
        <p:spPr>
          <a:xfrm>
            <a:off x="6949440" y="1965960"/>
            <a:ext cx="1737360" cy="548640"/>
          </a:xfrm>
          <a:prstGeom prst="rect">
            <a:avLst/>
          </a:prstGeom>
          <a:noFill/>
        </p:spPr>
        <p:txBody>
          <a:bodyPr wrap="square" lIns="0" tIns="0" rIns="0" bIns="0" rtlCol="0" anchor="t"/>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weekly retraining</a:t>
            </a:r>
            <a:endParaRPr lang="en-US" sz="1300" dirty="0"/>
          </a:p>
        </p:txBody>
      </p:sp>
      <p:sp>
        <p:nvSpPr>
          <p:cNvPr id="19" name="Text 16"/>
          <p:cNvSpPr txBox="1"/>
          <p:nvPr/>
        </p:nvSpPr>
        <p:spPr>
          <a:xfrm>
            <a:off x="6949440" y="2743200"/>
            <a:ext cx="1737360" cy="731520"/>
          </a:xfrm>
          <a:prstGeom prst="rect">
            <a:avLst/>
          </a:prstGeom>
          <a:noFill/>
        </p:spPr>
        <p:txBody>
          <a:bodyPr wrap="square" lIns="0" tIns="0" rIns="0" bIns="0" rtlCol="0" anchor="t"/>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retrain.yml, runs every Monday</a:t>
            </a:r>
            <a:endParaRPr lang="en-US" sz="1000" dirty="0"/>
          </a:p>
        </p:txBody>
      </p:sp>
      <p:sp>
        <p:nvSpPr>
          <p:cNvPr id="20" name="Text 17"/>
          <p:cNvSpPr txBox="1"/>
          <p:nvPr/>
        </p:nvSpPr>
        <p:spPr>
          <a:xfrm>
            <a:off x="457200" y="3794760"/>
            <a:ext cx="8229600" cy="1005840"/>
          </a:xfrm>
          <a:prstGeom prst="rect">
            <a:avLst/>
          </a:prstGeom>
          <a:noFill/>
        </p:spPr>
        <p:txBody>
          <a:bodyPr wrap="square" lIns="0" tIns="0" rIns="0" bIns="0" rtlCol="0" anchor="t"/>
          <a:lstStyle/>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POST /predict takes raw HR fields and returns probability, risk band and prediction. GET /health checks the service.</a:t>
            </a:r>
            <a:endParaRPr lang="en-US" sz="12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Retraining replaces the model only if cross-validated AUC does not get worse.</a:t>
            </a:r>
            <a:endParaRPr lang="en-US" sz="12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If the server's scikit-learn version differs, the model rebuilds itself automatically.</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HR dashboard</a:t>
            </a:r>
            <a:endParaRPr lang="en-US" sz="2600" dirty="0"/>
          </a:p>
        </p:txBody>
      </p:sp>
      <p:sp>
        <p:nvSpPr>
          <p:cNvPr id="4" name="screenshot placeholder"/>
          <p:cNvSpPr/>
          <p:nvPr/>
        </p:nvSpPr>
        <p:spPr>
          <a:xfrm>
            <a:off x="515620" y="1143000"/>
            <a:ext cx="4970780" cy="3520440"/>
          </a:xfrm>
          <a:prstGeom prst="rect">
            <a:avLst/>
          </a:prstGeom>
          <a:blipFill rotWithShape="1">
            <a:blip r:embed="rId1"/>
            <a:stretch>
              <a:fillRect/>
            </a:stretch>
          </a:blipFill>
          <a:ln w="19050">
            <a:solidFill>
              <a:srgbClr val="94A3B8"/>
            </a:solidFill>
            <a:prstDash val="dash"/>
          </a:ln>
        </p:spPr>
      </p:sp>
      <p:sp>
        <p:nvSpPr>
          <p:cNvPr id="6" name="Text 3"/>
          <p:cNvSpPr txBox="1"/>
          <p:nvPr/>
        </p:nvSpPr>
        <p:spPr>
          <a:xfrm>
            <a:off x="5760720" y="1097280"/>
            <a:ext cx="3108960" cy="3566160"/>
          </a:xfrm>
          <a:prstGeom prst="rect">
            <a:avLst/>
          </a:prstGeom>
          <a:noFill/>
        </p:spPr>
        <p:txBody>
          <a:bodyPr wrap="square" lIns="0" tIns="0" rIns="0" bIns="0" rtlCol="0" anchor="t"/>
          <a:lstStyle/>
          <a:p>
            <a:pPr marL="0" indent="0">
              <a:buNone/>
            </a:pPr>
            <a:r>
              <a:rPr lang="en-US" sz="1600" b="1" dirty="0">
                <a:solidFill>
                  <a:srgbClr val="0F766E"/>
                </a:solidFill>
                <a:latin typeface="Calibri" panose="020F0502020204030204" pitchFamily="34" charset="0"/>
                <a:ea typeface="Calibri" panose="020F0502020204030204" pitchFamily="34" charset="-122"/>
                <a:cs typeface="Calibri" panose="020F0502020204030204" pitchFamily="34" charset="-120"/>
              </a:rPr>
              <a:t>Five tabs</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HR KPIs: headcount, attrition and retention rate, high-risk count</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Attrition &amp; Risk: by department and role, risk donut, top 25 list</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Demographics: age, gender, marital status, tenure, overtime, income</a:t>
            </a:r>
            <a:endParaRPr lang="en-US" sz="1500" dirty="0"/>
          </a:p>
          <a:p>
            <a:pPr marL="342900" indent="-342900">
              <a:spcAft>
                <a:spcPts val="600"/>
              </a:spcAft>
              <a:buSzPct val="100000"/>
              <a:buChar char="•"/>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Model Performance: metrics, AUC chart, confusion matrix</a:t>
            </a:r>
            <a:endParaRPr lang="en-US" sz="1500" dirty="0"/>
          </a:p>
          <a:p>
            <a:pPr marL="0" indent="0">
              <a:spcAft>
                <a:spcPts val="600"/>
              </a:spcAft>
              <a:buSzPct val="10000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Predict Attrition: form for a new employee</a:t>
            </a:r>
            <a:endParaRPr lang="en-US" sz="1500" dirty="0"/>
          </a:p>
          <a:p>
            <a:pPr marL="0" indent="0">
              <a:buNone/>
            </a:pPr>
            <a:r>
              <a:rPr lang="en-US" sz="1100" i="1" dirty="0">
                <a:solidFill>
                  <a:srgbClr val="64748B"/>
                </a:solidFill>
                <a:latin typeface="Calibri" panose="020F0502020204030204" pitchFamily="34" charset="0"/>
                <a:ea typeface="Calibri" panose="020F0502020204030204" pitchFamily="34" charset="-122"/>
                <a:cs typeface="Calibri" panose="020F0502020204030204" pitchFamily="34" charset="-120"/>
              </a:rPr>
              <a:t>Attrition rate = left / headcount × 100</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r>
              <a:rPr lang="en-US" sz="2600" b="1" dirty="0">
                <a:solidFill>
                  <a:srgbClr val="1B2A41"/>
                </a:solidFill>
                <a:latin typeface="Georgia" panose="02040502050405020303" pitchFamily="34" charset="0"/>
                <a:ea typeface="Georgia" panose="02040502050405020303" pitchFamily="34" charset="-122"/>
                <a:cs typeface="Georgia" panose="02040502050405020303" pitchFamily="34" charset="-120"/>
              </a:rPr>
              <a:t>Recommendations and expected impact</a:t>
            </a:r>
            <a:endParaRPr lang="en-US" sz="2600" dirty="0"/>
          </a:p>
        </p:txBody>
      </p:sp>
      <p:sp>
        <p:nvSpPr>
          <p:cNvPr id="4" name="Text 1"/>
          <p:cNvSpPr txBox="1"/>
          <p:nvPr/>
        </p:nvSpPr>
        <p:spPr>
          <a:xfrm>
            <a:off x="457200" y="1097280"/>
            <a:ext cx="5120640" cy="3566160"/>
          </a:xfrm>
          <a:prstGeom prst="rect">
            <a:avLst/>
          </a:prstGeom>
          <a:noFill/>
        </p:spPr>
        <p:txBody>
          <a:bodyPr wrap="square" lIns="0" tIns="0" rIns="0" bIns="0" rtlCol="0" anchor="t"/>
          <a:lstStyle/>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Limit sustained overtime; rebalance workload in teams with many High-risk employees.</a:t>
            </a:r>
            <a:endParaRPr lang="en-US" sz="1500" dirty="0"/>
          </a:p>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Strengthen the first two years: onboarding, mentor, 6-month stay check-in.</a:t>
            </a:r>
            <a:endParaRPr lang="en-US" sz="1500" dirty="0"/>
          </a:p>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Review pay for Sales Representative and Laboratory Technician roles.</a:t>
            </a:r>
            <a:endParaRPr lang="en-US" sz="1500" dirty="0"/>
          </a:p>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Extend stock options or retention bonuses to High-risk staff with none.</a:t>
            </a:r>
            <a:endParaRPr lang="en-US" sz="1500" dirty="0"/>
          </a:p>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Reduce travel load for frequent travellers.</a:t>
            </a:r>
            <a:endParaRPr lang="en-US" sz="1500" dirty="0"/>
          </a:p>
          <a:p>
            <a:pPr marL="342900" indent="-342900">
              <a:spcAft>
                <a:spcPts val="600"/>
              </a:spcAft>
              <a:buSzPct val="100000"/>
              <a:buChar char="•"/>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Monthly stay conversations from the High-risk list: support, never penalise.</a:t>
            </a:r>
            <a:endParaRPr lang="en-US" sz="1500" dirty="0"/>
          </a:p>
        </p:txBody>
      </p:sp>
      <p:sp>
        <p:nvSpPr>
          <p:cNvPr id="5" name="card"/>
          <p:cNvSpPr/>
          <p:nvPr/>
        </p:nvSpPr>
        <p:spPr>
          <a:xfrm>
            <a:off x="5852160" y="1097280"/>
            <a:ext cx="2926080" cy="3566160"/>
          </a:xfrm>
          <a:prstGeom prst="roundRect">
            <a:avLst>
              <a:gd name="adj" fmla="val 2500"/>
            </a:avLst>
          </a:prstGeom>
          <a:solidFill>
            <a:srgbClr val="0F766E"/>
          </a:solidFill>
          <a:ln w="12700">
            <a:solidFill>
              <a:srgbClr val="0F766E"/>
            </a:solidFill>
            <a:prstDash val="solid"/>
          </a:ln>
        </p:spPr>
      </p:sp>
      <p:sp>
        <p:nvSpPr>
          <p:cNvPr id="6" name="Text 3"/>
          <p:cNvSpPr txBox="1"/>
          <p:nvPr/>
        </p:nvSpPr>
        <p:spPr>
          <a:xfrm>
            <a:off x="6035040" y="1234440"/>
            <a:ext cx="2560320" cy="3291840"/>
          </a:xfrm>
          <a:prstGeom prst="rect">
            <a:avLst/>
          </a:prstGeom>
          <a:noFill/>
        </p:spPr>
        <p:txBody>
          <a:bodyPr wrap="square" lIns="0" tIns="0" rIns="0" bIns="0" rtlCol="0" anchor="t"/>
          <a:lstStyle/>
          <a:p>
            <a:pPr marL="0" indent="0">
              <a:buNone/>
            </a:pPr>
            <a:r>
              <a:rPr lang="en-US" sz="3400" b="1" dirty="0">
                <a:solidFill>
                  <a:srgbClr val="FFFFFF"/>
                </a:solidFill>
                <a:latin typeface="Georgia" panose="02040502050405020303" pitchFamily="34" charset="0"/>
                <a:ea typeface="Georgia" panose="02040502050405020303" pitchFamily="34" charset="-122"/>
                <a:cs typeface="Georgia" panose="02040502050405020303" pitchFamily="34" charset="-120"/>
              </a:rPr>
              <a:t>317</a:t>
            </a:r>
            <a:endParaRPr lang="en-US" sz="1500" dirty="0"/>
          </a:p>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High-risk employees flagged, about 148 of whom actually left</a:t>
            </a:r>
            <a:endParaRPr lang="en-US" sz="1500" dirty="0"/>
          </a:p>
          <a:p>
            <a:pPr marL="0" indent="0">
              <a:buNone/>
            </a:pPr>
            <a:endParaRPr lang="en-US" sz="1500" dirty="0"/>
          </a:p>
          <a:p>
            <a:pPr marL="0" indent="0">
              <a:buNone/>
            </a:pPr>
            <a:r>
              <a:rPr lang="en-US" sz="1400" b="1" dirty="0">
                <a:solidFill>
                  <a:srgbClr val="2DD4BF"/>
                </a:solidFill>
                <a:latin typeface="Calibri" panose="020F0502020204030204" pitchFamily="34" charset="0"/>
                <a:ea typeface="Calibri" panose="020F0502020204030204" pitchFamily="34" charset="-122"/>
                <a:cs typeface="Calibri" panose="020F0502020204030204" pitchFamily="34" charset="-120"/>
              </a:rPr>
              <a:t>If 25% are retained: about 37 exits avoided</a:t>
            </a:r>
            <a:endParaRPr lang="en-US" sz="1500" dirty="0"/>
          </a:p>
          <a:p>
            <a:pPr marL="0" indent="0">
              <a:buNone/>
            </a:pPr>
            <a:r>
              <a:rPr lang="en-US" sz="1000" dirty="0">
                <a:solidFill>
                  <a:srgbClr val="E2E8F0"/>
                </a:solidFill>
                <a:latin typeface="Calibri" panose="020F0502020204030204" pitchFamily="34" charset="0"/>
                <a:ea typeface="Calibri" panose="020F0502020204030204" pitchFamily="34" charset="-122"/>
                <a:cs typeface="Calibri" panose="020F0502020204030204" pitchFamily="34" charset="-120"/>
              </a:rPr>
              <a:t>Illustrative: the 25% retention rate is an assumption.</a:t>
            </a:r>
            <a:endParaRPr lang="en-US" sz="15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658368"/>
          </a:xfrm>
          <a:prstGeom prst="rect">
            <a:avLst/>
          </a:prstGeom>
          <a:noFill/>
        </p:spPr>
        <p:txBody>
          <a:bodyPr wrap="square" lIns="0" tIns="0" rIns="0" bIns="0" rtlCol="0" anchor="ctr"/>
          <a:lstStyle/>
          <a:p>
            <a:pPr marL="0" indent="0">
              <a:buNone/>
            </a:pPr>
            <a:endParaRPr lang="en-US" sz="2600" dirty="0"/>
          </a:p>
        </p:txBody>
      </p:sp>
      <p:sp>
        <p:nvSpPr>
          <p:cNvPr id="8" name="Text 5"/>
          <p:cNvSpPr txBox="1"/>
          <p:nvPr/>
        </p:nvSpPr>
        <p:spPr>
          <a:xfrm>
            <a:off x="0" y="2346960"/>
            <a:ext cx="9144000" cy="1230630"/>
          </a:xfrm>
          <a:prstGeom prst="rect">
            <a:avLst/>
          </a:prstGeom>
          <a:noFill/>
        </p:spPr>
        <p:txBody>
          <a:bodyPr wrap="square" lIns="0" tIns="0" rIns="0" bIns="0" rtlCol="0" anchor="t"/>
          <a:lstStyle/>
          <a:p>
            <a:pPr marL="0" indent="0" algn="ctr">
              <a:buNone/>
            </a:pPr>
            <a:r>
              <a:rPr lang="en-US" sz="2200" b="1" dirty="0">
                <a:solidFill>
                  <a:srgbClr val="0F766E"/>
                </a:solidFill>
                <a:latin typeface="Georgia" panose="02040502050405020303" pitchFamily="34" charset="0"/>
                <a:ea typeface="Georgia" panose="02040502050405020303" pitchFamily="34" charset="-122"/>
                <a:cs typeface="Georgia" panose="02040502050405020303" pitchFamily="34" charset="-120"/>
              </a:rPr>
              <a:t>Thank you.</a:t>
            </a:r>
            <a:endParaRPr lang="en-US" sz="2200" dirty="0"/>
          </a:p>
        </p:txBody>
      </p:sp>
      <p:sp>
        <p:nvSpPr>
          <p:cNvPr id="25" name="Slide Number Placeholder 0"/>
          <p:cNvSpPr>
            <a:spLocks noGrp="1"/>
          </p:cNvSpPr>
          <p:nvPr>
            <p:ph type="sldNum" sz="quarter" idx="4294967295"/>
          </p:nvPr>
        </p:nvSpPr>
        <p:spPr>
          <a:xfrm>
            <a:off x="8412480" y="4800600"/>
            <a:ext cx="457200" cy="274320"/>
          </a:xfrm>
          <a:prstGeom prst="rect">
            <a:avLst/>
          </a:prstGeom>
        </p:spPr>
        <p:txBody>
          <a:bodyPr/>
          <a:lstStyle>
            <a:lvl1pPr>
              <a:defRPr sz="1000">
                <a:solidFill>
                  <a:srgbClr val="64748B"/>
                </a:solidFill>
              </a:defRPr>
            </a:lvl1pPr>
          </a:lstStyle>
          <a:p>
            <a:pPr algn="l"/>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Attrition">
  <a:themeElements>
    <a:clrScheme name="Attrition">
      <a:dk1>
        <a:srgbClr val="1B2A41"/>
      </a:dk1>
      <a:lt1>
        <a:srgbClr val="FFFFFF"/>
      </a:lt1>
      <a:dk2>
        <a:srgbClr val="0F766E"/>
      </a:dk2>
      <a:lt2>
        <a:srgbClr val="F1F5F9"/>
      </a:lt2>
      <a:accent1>
        <a:srgbClr val="0F766E"/>
      </a:accent1>
      <a:accent2>
        <a:srgbClr val="F59E0B"/>
      </a:accent2>
      <a:accent3>
        <a:srgbClr val="DC2626"/>
      </a:accent3>
      <a:accent4>
        <a:srgbClr val="1E3A5F"/>
      </a:accent4>
      <a:accent5>
        <a:srgbClr val="64748B"/>
      </a:accent5>
      <a:accent6>
        <a:srgbClr val="2DD4BF"/>
      </a:accent6>
      <a:hlink>
        <a:srgbClr val="0F766E"/>
      </a:hlink>
      <a:folHlink>
        <a:srgbClr val="64748B"/>
      </a:folHlink>
    </a:clrScheme>
    <a:fontScheme name="Attri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ttrition">
  <a:themeElements>
    <a:clrScheme name="Attrition">
      <a:dk1>
        <a:srgbClr val="1B2A41"/>
      </a:dk1>
      <a:lt1>
        <a:srgbClr val="FFFFFF"/>
      </a:lt1>
      <a:dk2>
        <a:srgbClr val="0F766E"/>
      </a:dk2>
      <a:lt2>
        <a:srgbClr val="F1F5F9"/>
      </a:lt2>
      <a:accent1>
        <a:srgbClr val="0F766E"/>
      </a:accent1>
      <a:accent2>
        <a:srgbClr val="F59E0B"/>
      </a:accent2>
      <a:accent3>
        <a:srgbClr val="DC2626"/>
      </a:accent3>
      <a:accent4>
        <a:srgbClr val="1E3A5F"/>
      </a:accent4>
      <a:accent5>
        <a:srgbClr val="64748B"/>
      </a:accent5>
      <a:accent6>
        <a:srgbClr val="2DD4BF"/>
      </a:accent6>
      <a:hlink>
        <a:srgbClr val="0F766E"/>
      </a:hlink>
      <a:folHlink>
        <a:srgbClr val="64748B"/>
      </a:folHlink>
    </a:clrScheme>
    <a:fontScheme name="Attri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3815</Words>
  <Application>WPS Presentation</Application>
  <PresentationFormat>On-screen Show (16:9)</PresentationFormat>
  <Paragraphs>192</Paragraphs>
  <Slides>11</Slides>
  <Notes>11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Georgia</vt:lpstr>
      <vt:lpstr>Georgia</vt:lpstr>
      <vt:lpstr>Georgia</vt:lpstr>
      <vt:lpstr>Calibri</vt:lpstr>
      <vt:lpstr>Calibri</vt:lpstr>
      <vt:lpstr>Calibri</vt:lpstr>
      <vt:lpstr>Arial</vt:lpstr>
      <vt:lpstr>Microsoft YaHei</vt:lpstr>
      <vt:lpstr>Arial Unicode MS</vt:lpstr>
      <vt:lpstr>MS PGothic</vt:lpstr>
      <vt:lpstr>Attrition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Analytics Platform</dc:title>
  <dc:creator>PptxGenJS</dc:creator>
  <dc:subject>PptxGenJS Presentation</dc:subject>
  <cp:lastModifiedBy>Sayali Chimbalkar</cp:lastModifiedBy>
  <cp:revision>3</cp:revision>
  <dcterms:created xsi:type="dcterms:W3CDTF">2026-10-23T08:59:00Z</dcterms:created>
  <dcterms:modified xsi:type="dcterms:W3CDTF">2026-10-24T10:30:48Z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1033-12.1.0.28096</vt:lpwstr>
  </property>
  <property fmtid="{D5CDD505-2E9C-101B-9397-08002B2CF9AE}" pid="3" name="ICV">
    <vt:lpwstr>371AE2C666F24186B468DF7A5D4F5F09_12</vt:lpwstr>
  </property>
</Properties>
</file>